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7" r:id="rId7"/>
    <p:sldId id="266" r:id="rId8"/>
    <p:sldId id="263" r:id="rId9"/>
    <p:sldId id="269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dec Pro ExtraBold Bold" panose="020B0604020202020204" charset="0"/>
      <p:regular r:id="rId16"/>
    </p:embeddedFont>
    <p:embeddedFont>
      <p:font typeface="Montserrat Light" panose="020B0604020202020204" charset="-94"/>
      <p:regular r:id="rId17"/>
    </p:embeddedFont>
    <p:embeddedFont>
      <p:font typeface="Montserrat Light Bold" panose="020B0604020202020204" charset="-94"/>
      <p:regular r:id="rId18"/>
    </p:embeddedFont>
    <p:embeddedFont>
      <p:font typeface="Codec Pro Extra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120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7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17.pn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34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-3400238" y="-3737596"/>
            <a:ext cx="8438976" cy="7475193"/>
          </a:xfrm>
          <a:custGeom>
            <a:avLst/>
            <a:gdLst/>
            <a:ahLst/>
            <a:cxnLst/>
            <a:rect l="l" t="t" r="r" b="b"/>
            <a:pathLst>
              <a:path w="8438976" h="7475193">
                <a:moveTo>
                  <a:pt x="0" y="0"/>
                </a:moveTo>
                <a:lnTo>
                  <a:pt x="8438976" y="0"/>
                </a:lnTo>
                <a:lnTo>
                  <a:pt x="8438976" y="7475192"/>
                </a:lnTo>
                <a:lnTo>
                  <a:pt x="0" y="747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252487"/>
            <a:ext cx="48480" cy="7782027"/>
            <a:chOff x="0" y="0"/>
            <a:chExt cx="10068" cy="161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68" cy="1616200"/>
            </a:xfrm>
            <a:custGeom>
              <a:avLst/>
              <a:gdLst/>
              <a:ahLst/>
              <a:cxnLst/>
              <a:rect l="l" t="t" r="r" b="b"/>
              <a:pathLst>
                <a:path w="10068" h="1616200">
                  <a:moveTo>
                    <a:pt x="0" y="0"/>
                  </a:moveTo>
                  <a:lnTo>
                    <a:pt x="10068" y="0"/>
                  </a:lnTo>
                  <a:lnTo>
                    <a:pt x="10068" y="1616200"/>
                  </a:lnTo>
                  <a:lnTo>
                    <a:pt x="0" y="1616200"/>
                  </a:lnTo>
                  <a:close/>
                </a:path>
              </a:pathLst>
            </a:custGeom>
            <a:solidFill>
              <a:srgbClr val="EAEAE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0068" cy="1635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21776" y="5330379"/>
            <a:ext cx="9491089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35"/>
              </a:lnSpc>
            </a:pPr>
            <a:r>
              <a:rPr lang="tr-TR" sz="2525" spc="126" smtClean="0">
                <a:solidFill>
                  <a:srgbClr val="FFFFFF"/>
                </a:solidFill>
                <a:latin typeface="Montserrat Light"/>
              </a:rPr>
              <a:t>An Analysis of the Risks to be Encountered in the Transition from University Life to Business Life</a:t>
            </a:r>
            <a:endParaRPr lang="en-US" sz="2525" spc="126">
              <a:solidFill>
                <a:srgbClr val="FFFFFF"/>
              </a:solidFill>
              <a:latin typeface="Montserrat Ligh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4568" y="2955291"/>
            <a:ext cx="14602557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21"/>
              </a:lnSpc>
            </a:pPr>
            <a:r>
              <a:rPr lang="en-US" sz="14851">
                <a:solidFill>
                  <a:srgbClr val="FFFFFF"/>
                </a:solidFill>
                <a:latin typeface="Codec Pro ExtraBold"/>
              </a:rPr>
              <a:t>RISK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1776" y="1176931"/>
            <a:ext cx="13027491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7"/>
              </a:lnSpc>
            </a:pPr>
            <a:r>
              <a:rPr lang="en-US" sz="5306">
                <a:solidFill>
                  <a:srgbClr val="FFFFFF"/>
                </a:solidFill>
                <a:latin typeface="Codec Pro ExtraBold"/>
              </a:rPr>
              <a:t>MIDTERM PROJECT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916987" y="3174366"/>
            <a:ext cx="9856051" cy="8730429"/>
          </a:xfrm>
          <a:custGeom>
            <a:avLst/>
            <a:gdLst/>
            <a:ahLst/>
            <a:cxnLst/>
            <a:rect l="l" t="t" r="r" b="b"/>
            <a:pathLst>
              <a:path w="9856051" h="8730429">
                <a:moveTo>
                  <a:pt x="0" y="0"/>
                </a:moveTo>
                <a:lnTo>
                  <a:pt x="9856051" y="0"/>
                </a:lnTo>
                <a:lnTo>
                  <a:pt x="9856051" y="8730429"/>
                </a:lnTo>
                <a:lnTo>
                  <a:pt x="0" y="87304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TextBox 11"/>
          <p:cNvSpPr txBox="1"/>
          <p:nvPr/>
        </p:nvSpPr>
        <p:spPr>
          <a:xfrm>
            <a:off x="1421776" y="2053231"/>
            <a:ext cx="13027491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7"/>
              </a:lnSpc>
            </a:pPr>
            <a:r>
              <a:rPr lang="en-US" sz="7706">
                <a:solidFill>
                  <a:srgbClr val="FFFFFF"/>
                </a:solidFill>
                <a:latin typeface="Codec Pro ExtraBold"/>
              </a:rPr>
              <a:t>INTRODUCTION 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4523" y="6496420"/>
            <a:ext cx="9491089" cy="253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5"/>
              </a:lnSpc>
            </a:pPr>
            <a:r>
              <a:rPr lang="en-US" sz="2825" spc="141">
                <a:solidFill>
                  <a:srgbClr val="FFFFFF"/>
                </a:solidFill>
                <a:latin typeface="Montserrat Light Bold"/>
              </a:rPr>
              <a:t>AÇELYA SILA MUHÇİ</a:t>
            </a:r>
          </a:p>
          <a:p>
            <a:pPr algn="l">
              <a:lnSpc>
                <a:spcPts val="3955"/>
              </a:lnSpc>
            </a:pPr>
            <a:r>
              <a:rPr lang="en-US" sz="2825" spc="141">
                <a:solidFill>
                  <a:srgbClr val="FFFFFF"/>
                </a:solidFill>
                <a:latin typeface="Montserrat Light Bold"/>
              </a:rPr>
              <a:t>ADAL AYDINAY</a:t>
            </a:r>
          </a:p>
          <a:p>
            <a:pPr algn="l">
              <a:lnSpc>
                <a:spcPts val="3955"/>
              </a:lnSpc>
            </a:pPr>
            <a:r>
              <a:rPr lang="en-US" sz="2825" spc="141">
                <a:solidFill>
                  <a:srgbClr val="FFFFFF"/>
                </a:solidFill>
                <a:latin typeface="Montserrat Light Bold"/>
              </a:rPr>
              <a:t>BATUHAN OK</a:t>
            </a:r>
          </a:p>
          <a:p>
            <a:pPr algn="l">
              <a:lnSpc>
                <a:spcPts val="3955"/>
              </a:lnSpc>
            </a:pPr>
            <a:r>
              <a:rPr lang="en-US" sz="2825" spc="141">
                <a:solidFill>
                  <a:srgbClr val="FFFFFF"/>
                </a:solidFill>
                <a:latin typeface="Montserrat Light Bold"/>
              </a:rPr>
              <a:t>DAMLA TATLISU</a:t>
            </a:r>
          </a:p>
          <a:p>
            <a:pPr algn="l">
              <a:lnSpc>
                <a:spcPts val="3955"/>
              </a:lnSpc>
            </a:pPr>
            <a:r>
              <a:rPr lang="en-US" sz="2825" spc="141">
                <a:solidFill>
                  <a:srgbClr val="FFFFFF"/>
                </a:solidFill>
                <a:latin typeface="Montserrat Light Bold"/>
              </a:rPr>
              <a:t>HALİM ONAT KARAOSMANGİL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863682"/>
            <a:chOff x="0" y="0"/>
            <a:chExt cx="4816593" cy="1017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17595"/>
            </a:xfrm>
            <a:custGeom>
              <a:avLst/>
              <a:gdLst/>
              <a:ahLst/>
              <a:cxnLst/>
              <a:rect l="l" t="t" r="r" b="b"/>
              <a:pathLst>
                <a:path w="4816592" h="1017595">
                  <a:moveTo>
                    <a:pt x="0" y="0"/>
                  </a:moveTo>
                  <a:lnTo>
                    <a:pt x="4816592" y="0"/>
                  </a:lnTo>
                  <a:lnTo>
                    <a:pt x="4816592" y="1017595"/>
                  </a:lnTo>
                  <a:lnTo>
                    <a:pt x="0" y="1017595"/>
                  </a:ln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055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18288000" cy="3863682"/>
          </a:xfrm>
          <a:custGeom>
            <a:avLst/>
            <a:gdLst/>
            <a:ahLst/>
            <a:cxnLst/>
            <a:rect l="l" t="t" r="r" b="b"/>
            <a:pathLst>
              <a:path w="18288000" h="3863682">
                <a:moveTo>
                  <a:pt x="0" y="0"/>
                </a:moveTo>
                <a:lnTo>
                  <a:pt x="18288000" y="0"/>
                </a:lnTo>
                <a:lnTo>
                  <a:pt x="18288000" y="3863682"/>
                </a:lnTo>
                <a:lnTo>
                  <a:pt x="0" y="3863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92612" b="-7346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5006878" y="1337660"/>
            <a:ext cx="8274244" cy="157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sz="9466">
                <a:solidFill>
                  <a:srgbClr val="FFFFFF"/>
                </a:solidFill>
                <a:latin typeface="Codec Pro ExtraBold"/>
              </a:rPr>
              <a:t>Content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02668" y="5282591"/>
            <a:ext cx="457167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Diving the Unknown</a:t>
            </a:r>
            <a:endParaRPr lang="en-US" sz="2292">
              <a:solidFill>
                <a:srgbClr val="010101"/>
              </a:solidFill>
              <a:latin typeface="Montserrat Ligh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546853" y="4021836"/>
            <a:ext cx="2283307" cy="157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sz="9466">
                <a:solidFill>
                  <a:srgbClr val="000000"/>
                </a:solidFill>
                <a:latin typeface="Codec Pro Extra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09714" y="5282591"/>
            <a:ext cx="422175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Risk Identification</a:t>
            </a:r>
            <a:endParaRPr lang="en-US" sz="2292">
              <a:solidFill>
                <a:srgbClr val="010101"/>
              </a:solidFill>
              <a:latin typeface="Montserrat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078936" y="4021836"/>
            <a:ext cx="2283307" cy="157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sz="9466">
                <a:solidFill>
                  <a:srgbClr val="000000"/>
                </a:solidFill>
                <a:latin typeface="Codec Pro Extra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05748" y="5282027"/>
            <a:ext cx="3903887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Risk Impact-Probability Scale</a:t>
            </a:r>
            <a:endParaRPr lang="en-US" sz="2292">
              <a:solidFill>
                <a:srgbClr val="010101"/>
              </a:solidFill>
              <a:latin typeface="Montserrat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616039" y="4021836"/>
            <a:ext cx="2283307" cy="157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sz="9466">
                <a:solidFill>
                  <a:srgbClr val="000000"/>
                </a:solidFill>
                <a:latin typeface="Codec Pro Extra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47300" y="8421964"/>
            <a:ext cx="408241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Risk Matrix for </a:t>
            </a:r>
            <a:endParaRPr lang="tr-TR" sz="2292" smtClean="0">
              <a:solidFill>
                <a:srgbClr val="010101"/>
              </a:solidFill>
              <a:latin typeface="Montserrat Light"/>
            </a:endParaRPr>
          </a:p>
          <a:p>
            <a:pPr algn="ctr">
              <a:lnSpc>
                <a:spcPts val="2750"/>
              </a:lnSpc>
            </a:pP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Risk </a:t>
            </a: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Assessment</a:t>
            </a:r>
            <a:endParaRPr lang="en-US" sz="2292">
              <a:solidFill>
                <a:srgbClr val="010101"/>
              </a:solidFill>
              <a:latin typeface="Montserrat Ligh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494645" y="7145217"/>
            <a:ext cx="2387721" cy="157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sz="9466">
                <a:solidFill>
                  <a:srgbClr val="000000"/>
                </a:solidFill>
                <a:latin typeface="Codec Pro Extra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79384" y="8421964"/>
            <a:ext cx="408241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Risk Response Strategies</a:t>
            </a:r>
            <a:endParaRPr lang="en-US" sz="2292">
              <a:solidFill>
                <a:srgbClr val="010101"/>
              </a:solidFill>
              <a:latin typeface="Montserrat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24153" y="7148322"/>
            <a:ext cx="2387721" cy="157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sz="9466">
                <a:solidFill>
                  <a:srgbClr val="000000"/>
                </a:solidFill>
                <a:latin typeface="Codec Pro ExtraBold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18766" y="8421963"/>
            <a:ext cx="408241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Realistic Actions </a:t>
            </a: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for </a:t>
            </a:r>
          </a:p>
          <a:p>
            <a:pPr algn="ctr">
              <a:lnSpc>
                <a:spcPts val="2750"/>
              </a:lnSpc>
            </a:pP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Risk </a:t>
            </a:r>
            <a:r>
              <a:rPr lang="tr-TR" sz="2292" smtClean="0">
                <a:solidFill>
                  <a:srgbClr val="010101"/>
                </a:solidFill>
                <a:latin typeface="Montserrat Light"/>
              </a:rPr>
              <a:t>Response Planning</a:t>
            </a:r>
            <a:endParaRPr lang="en-US" sz="2292">
              <a:solidFill>
                <a:srgbClr val="010101"/>
              </a:solidFill>
              <a:latin typeface="Montserrat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666111" y="7148322"/>
            <a:ext cx="2387721" cy="157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59"/>
              </a:lnSpc>
            </a:pPr>
            <a:r>
              <a:rPr lang="en-US" sz="9466">
                <a:solidFill>
                  <a:srgbClr val="000000"/>
                </a:solidFill>
                <a:latin typeface="Codec Pro Extra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0"/>
            <a:ext cx="4513686" cy="10287000"/>
            <a:chOff x="0" y="0"/>
            <a:chExt cx="118879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8790" cy="2709333"/>
            </a:xfrm>
            <a:custGeom>
              <a:avLst/>
              <a:gdLst/>
              <a:ahLst/>
              <a:cxnLst/>
              <a:rect l="l" t="t" r="r" b="b"/>
              <a:pathLst>
                <a:path w="1188790" h="2709333">
                  <a:moveTo>
                    <a:pt x="0" y="0"/>
                  </a:moveTo>
                  <a:lnTo>
                    <a:pt x="1188790" y="0"/>
                  </a:lnTo>
                  <a:lnTo>
                    <a:pt x="11887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8879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0"/>
            <a:ext cx="4513686" cy="11241465"/>
          </a:xfrm>
          <a:custGeom>
            <a:avLst/>
            <a:gdLst/>
            <a:ahLst/>
            <a:cxnLst/>
            <a:rect l="l" t="t" r="r" b="b"/>
            <a:pathLst>
              <a:path w="4513686" h="11241465">
                <a:moveTo>
                  <a:pt x="0" y="0"/>
                </a:moveTo>
                <a:lnTo>
                  <a:pt x="4513686" y="0"/>
                </a:lnTo>
                <a:lnTo>
                  <a:pt x="4513686" y="11241465"/>
                </a:lnTo>
                <a:lnTo>
                  <a:pt x="0" y="11241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-108491" r="-164621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5903405" y="2362683"/>
            <a:ext cx="10147749" cy="555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4"/>
              </a:lnSpc>
            </a:pPr>
            <a:r>
              <a:rPr lang="en-US" sz="3751" spc="213" dirty="0">
                <a:solidFill>
                  <a:srgbClr val="1A1A1A"/>
                </a:solidFill>
                <a:latin typeface="Montserrat Light"/>
              </a:rPr>
              <a:t>This project</a:t>
            </a:r>
            <a:r>
              <a:rPr lang="en-US" sz="3751" spc="213" dirty="0">
                <a:solidFill>
                  <a:srgbClr val="1A1A1A"/>
                </a:solidFill>
                <a:latin typeface="Montserrat Light Bold"/>
              </a:rPr>
              <a:t> delves into the potential risks</a:t>
            </a:r>
            <a:r>
              <a:rPr lang="en-US" sz="3751" spc="213" dirty="0">
                <a:solidFill>
                  <a:srgbClr val="1A1A1A"/>
                </a:solidFill>
                <a:latin typeface="Montserrat Light"/>
              </a:rPr>
              <a:t> faced by </a:t>
            </a:r>
            <a:r>
              <a:rPr lang="en-US" sz="3751" spc="213" dirty="0">
                <a:solidFill>
                  <a:srgbClr val="1A1A1A"/>
                </a:solidFill>
                <a:latin typeface="Montserrat Light Bold"/>
              </a:rPr>
              <a:t>graduates venturing from the academic world into the professional landscape</a:t>
            </a:r>
            <a:r>
              <a:rPr lang="en-US" sz="3751" spc="213" dirty="0">
                <a:solidFill>
                  <a:srgbClr val="1A1A1A"/>
                </a:solidFill>
                <a:latin typeface="Montserrat Light"/>
              </a:rPr>
              <a:t>. We analyze the key risks associated with this transition, aiming to </a:t>
            </a:r>
            <a:r>
              <a:rPr lang="en-US" sz="3751" spc="213" dirty="0">
                <a:solidFill>
                  <a:srgbClr val="1A1A1A"/>
                </a:solidFill>
                <a:latin typeface="Montserrat Light Bold"/>
              </a:rPr>
              <a:t>equip graduates with a deeper understanding of the journey ahead.</a:t>
            </a:r>
          </a:p>
          <a:p>
            <a:pPr algn="l">
              <a:lnSpc>
                <a:spcPts val="4764"/>
              </a:lnSpc>
            </a:pPr>
            <a:endParaRPr lang="en-US" sz="3751" spc="213" dirty="0">
              <a:solidFill>
                <a:srgbClr val="1A1A1A"/>
              </a:solidFill>
              <a:latin typeface="Montserrat Light Bold"/>
            </a:endParaRPr>
          </a:p>
        </p:txBody>
      </p:sp>
      <p:sp>
        <p:nvSpPr>
          <p:cNvPr id="7" name="Freeform 7"/>
          <p:cNvSpPr/>
          <p:nvPr/>
        </p:nvSpPr>
        <p:spPr>
          <a:xfrm flipH="1">
            <a:off x="16412507" y="6519330"/>
            <a:ext cx="1602972" cy="3767670"/>
          </a:xfrm>
          <a:custGeom>
            <a:avLst/>
            <a:gdLst/>
            <a:ahLst/>
            <a:cxnLst/>
            <a:rect l="l" t="t" r="r" b="b"/>
            <a:pathLst>
              <a:path w="1602972" h="3767670">
                <a:moveTo>
                  <a:pt x="1602973" y="0"/>
                </a:moveTo>
                <a:lnTo>
                  <a:pt x="0" y="0"/>
                </a:lnTo>
                <a:lnTo>
                  <a:pt x="0" y="3767670"/>
                </a:lnTo>
                <a:lnTo>
                  <a:pt x="1602973" y="3767670"/>
                </a:lnTo>
                <a:lnTo>
                  <a:pt x="160297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15560030" y="6724789"/>
            <a:ext cx="1653964" cy="3356753"/>
          </a:xfrm>
          <a:custGeom>
            <a:avLst/>
            <a:gdLst/>
            <a:ahLst/>
            <a:cxnLst/>
            <a:rect l="l" t="t" r="r" b="b"/>
            <a:pathLst>
              <a:path w="1653964" h="3356753">
                <a:moveTo>
                  <a:pt x="0" y="0"/>
                </a:moveTo>
                <a:lnTo>
                  <a:pt x="1653963" y="0"/>
                </a:lnTo>
                <a:lnTo>
                  <a:pt x="1653963" y="3356753"/>
                </a:lnTo>
                <a:lnTo>
                  <a:pt x="0" y="3356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13450248" y="6860146"/>
            <a:ext cx="960562" cy="3221396"/>
          </a:xfrm>
          <a:custGeom>
            <a:avLst/>
            <a:gdLst/>
            <a:ahLst/>
            <a:cxnLst/>
            <a:rect l="l" t="t" r="r" b="b"/>
            <a:pathLst>
              <a:path w="960562" h="3221396">
                <a:moveTo>
                  <a:pt x="0" y="0"/>
                </a:moveTo>
                <a:lnTo>
                  <a:pt x="960562" y="0"/>
                </a:lnTo>
                <a:lnTo>
                  <a:pt x="960562" y="3221396"/>
                </a:lnTo>
                <a:lnTo>
                  <a:pt x="0" y="32213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14144480" y="7015311"/>
            <a:ext cx="1031369" cy="3066231"/>
          </a:xfrm>
          <a:custGeom>
            <a:avLst/>
            <a:gdLst/>
            <a:ahLst/>
            <a:cxnLst/>
            <a:rect l="l" t="t" r="r" b="b"/>
            <a:pathLst>
              <a:path w="1031369" h="3066231">
                <a:moveTo>
                  <a:pt x="0" y="0"/>
                </a:moveTo>
                <a:lnTo>
                  <a:pt x="1031369" y="0"/>
                </a:lnTo>
                <a:lnTo>
                  <a:pt x="1031369" y="3066231"/>
                </a:lnTo>
                <a:lnTo>
                  <a:pt x="0" y="30662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TextBox 11"/>
          <p:cNvSpPr txBox="1"/>
          <p:nvPr/>
        </p:nvSpPr>
        <p:spPr>
          <a:xfrm>
            <a:off x="5903405" y="904875"/>
            <a:ext cx="11607021" cy="121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36"/>
              </a:lnSpc>
              <a:spcBef>
                <a:spcPct val="0"/>
              </a:spcBef>
            </a:pPr>
            <a:r>
              <a:rPr lang="tr-TR" sz="7947" smtClean="0">
                <a:solidFill>
                  <a:srgbClr val="1A1A1A"/>
                </a:solidFill>
                <a:latin typeface="Codec Pro ExtraBold"/>
              </a:rPr>
              <a:t>Diving the Unknown</a:t>
            </a:r>
            <a:endParaRPr lang="en-US" sz="7947" dirty="0">
              <a:solidFill>
                <a:srgbClr val="1A1A1A"/>
              </a:solidFill>
              <a:latin typeface="Codec Pro 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076480">
            <a:off x="10037827" y="-4507227"/>
            <a:ext cx="9934884" cy="8800259"/>
          </a:xfrm>
          <a:custGeom>
            <a:avLst/>
            <a:gdLst/>
            <a:ahLst/>
            <a:cxnLst/>
            <a:rect l="l" t="t" r="r" b="b"/>
            <a:pathLst>
              <a:path w="9934884" h="8800259">
                <a:moveTo>
                  <a:pt x="0" y="0"/>
                </a:moveTo>
                <a:lnTo>
                  <a:pt x="9934884" y="0"/>
                </a:lnTo>
                <a:lnTo>
                  <a:pt x="9934884" y="8800259"/>
                </a:lnTo>
                <a:lnTo>
                  <a:pt x="0" y="880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334414" y="761123"/>
            <a:ext cx="1117603" cy="1122233"/>
            <a:chOff x="0" y="0"/>
            <a:chExt cx="812800" cy="8161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38319" y="2904561"/>
            <a:ext cx="1117603" cy="1122233"/>
            <a:chOff x="0" y="0"/>
            <a:chExt cx="812800" cy="8161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4414" y="4829184"/>
            <a:ext cx="1117603" cy="1122233"/>
            <a:chOff x="0" y="0"/>
            <a:chExt cx="812800" cy="8161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38319" y="6006426"/>
            <a:ext cx="1117603" cy="1122233"/>
            <a:chOff x="0" y="0"/>
            <a:chExt cx="812800" cy="8161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4414" y="8191500"/>
            <a:ext cx="1117603" cy="1122233"/>
            <a:chOff x="0" y="0"/>
            <a:chExt cx="812800" cy="8161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7259300" y="7353683"/>
            <a:ext cx="869329" cy="2933317"/>
          </a:xfrm>
          <a:custGeom>
            <a:avLst/>
            <a:gdLst/>
            <a:ahLst/>
            <a:cxnLst/>
            <a:rect l="l" t="t" r="r" b="b"/>
            <a:pathLst>
              <a:path w="869329" h="2933317">
                <a:moveTo>
                  <a:pt x="0" y="0"/>
                </a:moveTo>
                <a:lnTo>
                  <a:pt x="869329" y="0"/>
                </a:lnTo>
                <a:lnTo>
                  <a:pt x="869329" y="2933317"/>
                </a:lnTo>
                <a:lnTo>
                  <a:pt x="0" y="2933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9" name="TextBox 19"/>
          <p:cNvSpPr txBox="1"/>
          <p:nvPr/>
        </p:nvSpPr>
        <p:spPr>
          <a:xfrm>
            <a:off x="521444" y="998837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 dirty="0">
                <a:solidFill>
                  <a:srgbClr val="FFFFFF"/>
                </a:solidFill>
                <a:latin typeface="Montserrat Light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25349" y="3142275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444" y="5066898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125349" y="6244140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1444" y="8429214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84793" y="998837"/>
            <a:ext cx="12135208" cy="62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42"/>
              </a:lnSpc>
            </a:pPr>
            <a:r>
              <a:rPr lang="en-US" sz="3891" spc="221">
                <a:solidFill>
                  <a:srgbClr val="56C1CA"/>
                </a:solidFill>
                <a:latin typeface="Montserrat Light Bold"/>
              </a:rPr>
              <a:t>Lack of Work Experience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85622" y="3160962"/>
            <a:ext cx="12135208" cy="628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942"/>
              </a:lnSpc>
            </a:pPr>
            <a:r>
              <a:rPr lang="en-US" sz="3891" spc="221">
                <a:solidFill>
                  <a:srgbClr val="347C82"/>
                </a:solidFill>
                <a:latin typeface="Montserrat Light Bold"/>
              </a:rPr>
              <a:t>Limited Networking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84793" y="5066898"/>
            <a:ext cx="7669783" cy="62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2"/>
              </a:lnSpc>
            </a:pPr>
            <a:r>
              <a:rPr lang="en-US" sz="3891" spc="221">
                <a:solidFill>
                  <a:srgbClr val="56C1CA"/>
                </a:solidFill>
                <a:latin typeface="Montserrat Light Bold"/>
              </a:rPr>
              <a:t>Mismatched Expectations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01401" y="6227784"/>
            <a:ext cx="551943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942"/>
              </a:lnSpc>
            </a:pPr>
            <a:r>
              <a:rPr lang="en-US" sz="3891" spc="221">
                <a:solidFill>
                  <a:srgbClr val="347C82"/>
                </a:solidFill>
                <a:latin typeface="Montserrat Light Bold"/>
              </a:rPr>
              <a:t>Work Life Balance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84793" y="8385867"/>
            <a:ext cx="9371135" cy="62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2"/>
              </a:lnSpc>
            </a:pPr>
            <a:r>
              <a:rPr lang="en-US" sz="3891" spc="221">
                <a:solidFill>
                  <a:srgbClr val="56C1CA"/>
                </a:solidFill>
                <a:latin typeface="Montserrat Light Bold"/>
              </a:rPr>
              <a:t>Adaptation to Corporate Culture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84080" y="32460"/>
            <a:ext cx="8471842" cy="116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36"/>
              </a:lnSpc>
              <a:spcBef>
                <a:spcPct val="0"/>
              </a:spcBef>
            </a:pPr>
            <a:r>
              <a:rPr lang="tr-TR" sz="7600" smtClean="0">
                <a:solidFill>
                  <a:srgbClr val="1A1A1A"/>
                </a:solidFill>
                <a:latin typeface="Codec Pro ExtraBold"/>
              </a:rPr>
              <a:t>Risk Identification</a:t>
            </a:r>
            <a:endParaRPr lang="en-US" sz="7600">
              <a:solidFill>
                <a:srgbClr val="1A1A1A"/>
              </a:solidFill>
              <a:latin typeface="Codec Pro Extra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684793" y="1628142"/>
            <a:ext cx="6982209" cy="148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3091" spc="176" dirty="0">
                <a:solidFill>
                  <a:srgbClr val="1A1A1A"/>
                </a:solidFill>
                <a:latin typeface="Montserrat Light"/>
              </a:rPr>
              <a:t>University knowledge might not </a:t>
            </a:r>
          </a:p>
          <a:p>
            <a:pPr algn="l">
              <a:lnSpc>
                <a:spcPts val="3926"/>
              </a:lnSpc>
            </a:pPr>
            <a:r>
              <a:rPr lang="en-US" sz="3091" spc="176" dirty="0">
                <a:solidFill>
                  <a:srgbClr val="1A1A1A"/>
                </a:solidFill>
                <a:latin typeface="Montserrat Light"/>
              </a:rPr>
              <a:t>directly translate to </a:t>
            </a:r>
          </a:p>
          <a:p>
            <a:pPr algn="l">
              <a:lnSpc>
                <a:spcPts val="3926"/>
              </a:lnSpc>
            </a:pPr>
            <a:r>
              <a:rPr lang="en-US" sz="3091" spc="176" dirty="0">
                <a:solidFill>
                  <a:srgbClr val="1A1A1A"/>
                </a:solidFill>
                <a:latin typeface="Montserrat Light"/>
              </a:rPr>
              <a:t>real-world business skills.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95367" y="3787551"/>
            <a:ext cx="13725463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Few professional connections can cause </a:t>
            </a:r>
          </a:p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difficulty at finding jobs or career advancement.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84793" y="5685127"/>
            <a:ext cx="6982209" cy="148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University may not fully prepare you for the realities and demands of business life.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02190" y="6854256"/>
            <a:ext cx="9418640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Difficulty establishing boundaries between work responsibilities and personal life.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84793" y="9014211"/>
            <a:ext cx="11948178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Adapting to a new work environment with</a:t>
            </a:r>
          </a:p>
          <a:p>
            <a:pPr algn="l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different communication styles and expectations.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446475">
            <a:off x="-3057765" y="-4553195"/>
            <a:ext cx="9934884" cy="8800259"/>
          </a:xfrm>
          <a:custGeom>
            <a:avLst/>
            <a:gdLst/>
            <a:ahLst/>
            <a:cxnLst/>
            <a:rect l="l" t="t" r="r" b="b"/>
            <a:pathLst>
              <a:path w="9934884" h="8800259">
                <a:moveTo>
                  <a:pt x="0" y="0"/>
                </a:moveTo>
                <a:lnTo>
                  <a:pt x="9934884" y="0"/>
                </a:lnTo>
                <a:lnTo>
                  <a:pt x="9934884" y="8800259"/>
                </a:lnTo>
                <a:lnTo>
                  <a:pt x="0" y="880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6141697" y="467584"/>
            <a:ext cx="1117603" cy="1122233"/>
            <a:chOff x="0" y="0"/>
            <a:chExt cx="812800" cy="8161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328727" y="705298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35151" y="2619828"/>
            <a:ext cx="1117603" cy="1122233"/>
            <a:chOff x="0" y="0"/>
            <a:chExt cx="812800" cy="8161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22181" y="2857542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7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141697" y="4189699"/>
            <a:ext cx="1117603" cy="1122233"/>
            <a:chOff x="0" y="0"/>
            <a:chExt cx="812800" cy="8161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328727" y="4427414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8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35151" y="5890342"/>
            <a:ext cx="1117603" cy="1122233"/>
            <a:chOff x="0" y="0"/>
            <a:chExt cx="812800" cy="8161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22181" y="6128056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9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141697" y="8020446"/>
            <a:ext cx="1117603" cy="1122233"/>
            <a:chOff x="0" y="0"/>
            <a:chExt cx="812800" cy="8161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6167"/>
            </a:xfrm>
            <a:custGeom>
              <a:avLst/>
              <a:gdLst/>
              <a:ahLst/>
              <a:cxnLst/>
              <a:rect l="l" t="t" r="r" b="b"/>
              <a:pathLst>
                <a:path w="812800" h="816167">
                  <a:moveTo>
                    <a:pt x="406400" y="0"/>
                  </a:moveTo>
                  <a:cubicBezTo>
                    <a:pt x="181951" y="0"/>
                    <a:pt x="0" y="182705"/>
                    <a:pt x="0" y="408084"/>
                  </a:cubicBezTo>
                  <a:cubicBezTo>
                    <a:pt x="0" y="633462"/>
                    <a:pt x="181951" y="816167"/>
                    <a:pt x="406400" y="816167"/>
                  </a:cubicBezTo>
                  <a:cubicBezTo>
                    <a:pt x="630849" y="816167"/>
                    <a:pt x="812800" y="633462"/>
                    <a:pt x="812800" y="408084"/>
                  </a:cubicBezTo>
                  <a:cubicBezTo>
                    <a:pt x="812800" y="18270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-161609"/>
              <a:ext cx="660400" cy="90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99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328727" y="8258160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10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65462" y="722684"/>
            <a:ext cx="8058747" cy="594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942"/>
              </a:lnSpc>
            </a:pPr>
            <a:r>
              <a:rPr lang="en-US" sz="3891" spc="221">
                <a:solidFill>
                  <a:srgbClr val="347C82"/>
                </a:solidFill>
                <a:latin typeface="Montserrat Light Bold"/>
              </a:rPr>
              <a:t>Global Recession and Crises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10784" y="2906092"/>
            <a:ext cx="12135208" cy="1247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2"/>
              </a:lnSpc>
            </a:pPr>
            <a:r>
              <a:rPr lang="en-US" sz="3891" spc="221">
                <a:solidFill>
                  <a:srgbClr val="56C1CA"/>
                </a:solidFill>
                <a:latin typeface="Montserrat Light Bold"/>
              </a:rPr>
              <a:t>Diversity, Equity and Inclusion Challenges</a:t>
            </a:r>
          </a:p>
          <a:p>
            <a:pPr algn="l">
              <a:lnSpc>
                <a:spcPts val="4942"/>
              </a:lnSpc>
            </a:pPr>
            <a:endParaRPr lang="en-US" sz="3891" spc="221">
              <a:solidFill>
                <a:srgbClr val="56C1CA"/>
              </a:solidFill>
              <a:latin typeface="Montserrat Light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307490" y="6173617"/>
            <a:ext cx="4858169" cy="628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2"/>
              </a:lnSpc>
            </a:pPr>
            <a:r>
              <a:rPr lang="en-US" sz="3891" spc="221">
                <a:solidFill>
                  <a:srgbClr val="56C1CA"/>
                </a:solidFill>
                <a:latin typeface="Montserrat Light Bold"/>
              </a:rPr>
              <a:t>Ethical Dilemma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01012" y="8317909"/>
            <a:ext cx="6023197" cy="594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942"/>
              </a:lnSpc>
            </a:pPr>
            <a:r>
              <a:rPr lang="en-US" sz="3891" spc="221">
                <a:solidFill>
                  <a:srgbClr val="347C82"/>
                </a:solidFill>
                <a:latin typeface="Montserrat Light Bold"/>
              </a:rPr>
              <a:t>Psychological Issues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53800" y="4503018"/>
            <a:ext cx="4570409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942"/>
              </a:lnSpc>
            </a:pPr>
            <a:r>
              <a:rPr lang="tr-TR" sz="3891" spc="221" smtClean="0">
                <a:solidFill>
                  <a:srgbClr val="347C82"/>
                </a:solidFill>
                <a:latin typeface="Montserrat Light Bold"/>
              </a:rPr>
              <a:t>Social </a:t>
            </a:r>
            <a:r>
              <a:rPr lang="en-US" sz="3891" spc="221" smtClean="0">
                <a:solidFill>
                  <a:srgbClr val="347C82"/>
                </a:solidFill>
                <a:latin typeface="Montserrat Light Bold"/>
              </a:rPr>
              <a:t>Pressure</a:t>
            </a:r>
            <a:endParaRPr lang="en-US" sz="3891" spc="221">
              <a:solidFill>
                <a:srgbClr val="347C82"/>
              </a:solidFill>
              <a:latin typeface="Montserrat Ligh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198746" y="1346109"/>
            <a:ext cx="13725463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Economic downturns can impact job security</a:t>
            </a:r>
          </a:p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and career opportunities.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07490" y="3516246"/>
            <a:ext cx="13725463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Facing potential bias or</a:t>
            </a:r>
          </a:p>
          <a:p>
            <a:pPr algn="l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unequal treatment in the workplace.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-582231" y="5127480"/>
            <a:ext cx="16506440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Feeling pressured to conform to </a:t>
            </a:r>
          </a:p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social environment norms or expectations.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13647" y="6806542"/>
            <a:ext cx="12273449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Encountering situations that may require compromising</a:t>
            </a:r>
          </a:p>
          <a:p>
            <a:pPr algn="l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personal values in a professional setting.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50760" y="8956492"/>
            <a:ext cx="12273449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Increased stress and anxiety due to new pressures</a:t>
            </a:r>
          </a:p>
          <a:p>
            <a:pPr algn="r">
              <a:lnSpc>
                <a:spcPts val="3926"/>
              </a:lnSpc>
            </a:pPr>
            <a:r>
              <a:rPr lang="en-US" sz="3091" spc="176">
                <a:solidFill>
                  <a:srgbClr val="1A1A1A"/>
                </a:solidFill>
                <a:latin typeface="Montserrat Light"/>
              </a:rPr>
              <a:t>and workload. - imposter syndrome</a:t>
            </a:r>
          </a:p>
        </p:txBody>
      </p:sp>
      <p:sp>
        <p:nvSpPr>
          <p:cNvPr id="33" name="Freeform 33"/>
          <p:cNvSpPr/>
          <p:nvPr/>
        </p:nvSpPr>
        <p:spPr>
          <a:xfrm>
            <a:off x="0" y="7264468"/>
            <a:ext cx="851804" cy="3022532"/>
          </a:xfrm>
          <a:custGeom>
            <a:avLst/>
            <a:gdLst/>
            <a:ahLst/>
            <a:cxnLst/>
            <a:rect l="l" t="t" r="r" b="b"/>
            <a:pathLst>
              <a:path w="851804" h="3022532">
                <a:moveTo>
                  <a:pt x="0" y="0"/>
                </a:moveTo>
                <a:lnTo>
                  <a:pt x="851804" y="0"/>
                </a:lnTo>
                <a:lnTo>
                  <a:pt x="851804" y="3022532"/>
                </a:lnTo>
                <a:lnTo>
                  <a:pt x="0" y="3022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4363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8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35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765" y="2704610"/>
            <a:ext cx="739717" cy="1432665"/>
            <a:chOff x="0" y="0"/>
            <a:chExt cx="221837" cy="429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1765" y="4137275"/>
            <a:ext cx="739717" cy="1432665"/>
            <a:chOff x="0" y="0"/>
            <a:chExt cx="221837" cy="4296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1765" y="5569941"/>
            <a:ext cx="739717" cy="1432665"/>
            <a:chOff x="0" y="0"/>
            <a:chExt cx="221837" cy="4296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8983" y="6998691"/>
            <a:ext cx="739717" cy="1432665"/>
            <a:chOff x="0" y="0"/>
            <a:chExt cx="221837" cy="4296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1765" y="8431356"/>
            <a:ext cx="739717" cy="1432665"/>
            <a:chOff x="0" y="0"/>
            <a:chExt cx="221837" cy="4296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56C1CA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231352" y="2621709"/>
            <a:ext cx="739717" cy="1432665"/>
            <a:chOff x="0" y="0"/>
            <a:chExt cx="221837" cy="42964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231352" y="4054374"/>
            <a:ext cx="739717" cy="1432665"/>
            <a:chOff x="0" y="0"/>
            <a:chExt cx="221837" cy="4296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231352" y="5487039"/>
            <a:ext cx="739717" cy="1432665"/>
            <a:chOff x="0" y="0"/>
            <a:chExt cx="221837" cy="4296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248570" y="6915789"/>
            <a:ext cx="739717" cy="1432665"/>
            <a:chOff x="0" y="0"/>
            <a:chExt cx="221837" cy="4296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231352" y="8348455"/>
            <a:ext cx="739717" cy="1432665"/>
            <a:chOff x="0" y="0"/>
            <a:chExt cx="221837" cy="4296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1837" cy="429648"/>
            </a:xfrm>
            <a:custGeom>
              <a:avLst/>
              <a:gdLst/>
              <a:ahLst/>
              <a:cxnLst/>
              <a:rect l="l" t="t" r="r" b="b"/>
              <a:pathLst>
                <a:path w="221837" h="429648">
                  <a:moveTo>
                    <a:pt x="110918" y="0"/>
                  </a:moveTo>
                  <a:lnTo>
                    <a:pt x="110918" y="0"/>
                  </a:lnTo>
                  <a:cubicBezTo>
                    <a:pt x="172177" y="0"/>
                    <a:pt x="221837" y="49660"/>
                    <a:pt x="221837" y="110918"/>
                  </a:cubicBezTo>
                  <a:lnTo>
                    <a:pt x="221837" y="318730"/>
                  </a:lnTo>
                  <a:cubicBezTo>
                    <a:pt x="221837" y="348147"/>
                    <a:pt x="210151" y="376360"/>
                    <a:pt x="189350" y="397161"/>
                  </a:cubicBezTo>
                  <a:cubicBezTo>
                    <a:pt x="168548" y="417962"/>
                    <a:pt x="140336" y="429648"/>
                    <a:pt x="110918" y="429648"/>
                  </a:cubicBezTo>
                  <a:lnTo>
                    <a:pt x="110918" y="429648"/>
                  </a:lnTo>
                  <a:cubicBezTo>
                    <a:pt x="81501" y="429648"/>
                    <a:pt x="53289" y="417962"/>
                    <a:pt x="32487" y="397161"/>
                  </a:cubicBezTo>
                  <a:cubicBezTo>
                    <a:pt x="11686" y="376360"/>
                    <a:pt x="0" y="348147"/>
                    <a:pt x="0" y="318730"/>
                  </a:cubicBezTo>
                  <a:lnTo>
                    <a:pt x="0" y="110918"/>
                  </a:lnTo>
                  <a:cubicBezTo>
                    <a:pt x="0" y="81501"/>
                    <a:pt x="11686" y="53289"/>
                    <a:pt x="32487" y="32487"/>
                  </a:cubicBezTo>
                  <a:cubicBezTo>
                    <a:pt x="53289" y="11686"/>
                    <a:pt x="81501" y="0"/>
                    <a:pt x="110918" y="0"/>
                  </a:cubicBezTo>
                  <a:close/>
                </a:path>
              </a:pathLst>
            </a:custGeom>
            <a:solidFill>
              <a:srgbClr val="56C1CA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21837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32525" y="3107065"/>
            <a:ext cx="6735263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691" spc="153" dirty="0">
                <a:solidFill>
                  <a:srgbClr val="191919"/>
                </a:solidFill>
                <a:latin typeface="Montserrat Light Bold"/>
              </a:rPr>
              <a:t>Interruption </a:t>
            </a: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of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A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ctivity</a:t>
            </a:r>
            <a:endParaRPr lang="en-US" sz="2691" spc="153" dirty="0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614565" y="3222039"/>
            <a:ext cx="9444514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18"/>
              </a:lnSpc>
            </a:pP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Almost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E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veryone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E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xperience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T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his</a:t>
            </a:r>
            <a:endParaRPr lang="en-US" sz="2691" spc="153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808774" y="8819944"/>
            <a:ext cx="9250306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18"/>
              </a:lnSpc>
            </a:pP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Almost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N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o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C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hance </a:t>
            </a: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of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H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appening</a:t>
            </a:r>
            <a:endParaRPr lang="en-US" sz="2691" spc="153">
              <a:solidFill>
                <a:srgbClr val="191919"/>
              </a:solidFill>
              <a:latin typeface="Montserrat Light Bold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7856975" y="2704610"/>
            <a:ext cx="2325784" cy="1432665"/>
            <a:chOff x="0" y="0"/>
            <a:chExt cx="697489" cy="4296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97489" cy="429648"/>
            </a:xfrm>
            <a:custGeom>
              <a:avLst/>
              <a:gdLst/>
              <a:ahLst/>
              <a:cxnLst/>
              <a:rect l="l" t="t" r="r" b="b"/>
              <a:pathLst>
                <a:path w="697489" h="429648">
                  <a:moveTo>
                    <a:pt x="169765" y="0"/>
                  </a:moveTo>
                  <a:lnTo>
                    <a:pt x="527724" y="0"/>
                  </a:lnTo>
                  <a:cubicBezTo>
                    <a:pt x="572748" y="0"/>
                    <a:pt x="615929" y="17886"/>
                    <a:pt x="647766" y="49723"/>
                  </a:cubicBezTo>
                  <a:cubicBezTo>
                    <a:pt x="679603" y="81560"/>
                    <a:pt x="697489" y="124741"/>
                    <a:pt x="697489" y="169765"/>
                  </a:cubicBezTo>
                  <a:lnTo>
                    <a:pt x="697489" y="259883"/>
                  </a:lnTo>
                  <a:cubicBezTo>
                    <a:pt x="697489" y="304907"/>
                    <a:pt x="679603" y="348088"/>
                    <a:pt x="647766" y="379925"/>
                  </a:cubicBezTo>
                  <a:cubicBezTo>
                    <a:pt x="615929" y="411762"/>
                    <a:pt x="572748" y="429648"/>
                    <a:pt x="527724" y="429648"/>
                  </a:cubicBezTo>
                  <a:lnTo>
                    <a:pt x="169765" y="429648"/>
                  </a:lnTo>
                  <a:cubicBezTo>
                    <a:pt x="76007" y="429648"/>
                    <a:pt x="0" y="353641"/>
                    <a:pt x="0" y="259883"/>
                  </a:cubicBezTo>
                  <a:lnTo>
                    <a:pt x="0" y="169765"/>
                  </a:lnTo>
                  <a:cubicBezTo>
                    <a:pt x="0" y="124741"/>
                    <a:pt x="17886" y="81560"/>
                    <a:pt x="49723" y="49723"/>
                  </a:cubicBezTo>
                  <a:cubicBezTo>
                    <a:pt x="81560" y="17886"/>
                    <a:pt x="124741" y="0"/>
                    <a:pt x="169765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97489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876025" y="4137275"/>
            <a:ext cx="2325784" cy="1432665"/>
            <a:chOff x="0" y="0"/>
            <a:chExt cx="697489" cy="4296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7489" cy="429648"/>
            </a:xfrm>
            <a:custGeom>
              <a:avLst/>
              <a:gdLst/>
              <a:ahLst/>
              <a:cxnLst/>
              <a:rect l="l" t="t" r="r" b="b"/>
              <a:pathLst>
                <a:path w="697489" h="429648">
                  <a:moveTo>
                    <a:pt x="169765" y="0"/>
                  </a:moveTo>
                  <a:lnTo>
                    <a:pt x="527724" y="0"/>
                  </a:lnTo>
                  <a:cubicBezTo>
                    <a:pt x="572748" y="0"/>
                    <a:pt x="615929" y="17886"/>
                    <a:pt x="647766" y="49723"/>
                  </a:cubicBezTo>
                  <a:cubicBezTo>
                    <a:pt x="679603" y="81560"/>
                    <a:pt x="697489" y="124741"/>
                    <a:pt x="697489" y="169765"/>
                  </a:cubicBezTo>
                  <a:lnTo>
                    <a:pt x="697489" y="259883"/>
                  </a:lnTo>
                  <a:cubicBezTo>
                    <a:pt x="697489" y="304907"/>
                    <a:pt x="679603" y="348088"/>
                    <a:pt x="647766" y="379925"/>
                  </a:cubicBezTo>
                  <a:cubicBezTo>
                    <a:pt x="615929" y="411762"/>
                    <a:pt x="572748" y="429648"/>
                    <a:pt x="527724" y="429648"/>
                  </a:cubicBezTo>
                  <a:lnTo>
                    <a:pt x="169765" y="429648"/>
                  </a:lnTo>
                  <a:cubicBezTo>
                    <a:pt x="76007" y="429648"/>
                    <a:pt x="0" y="353641"/>
                    <a:pt x="0" y="259883"/>
                  </a:cubicBezTo>
                  <a:lnTo>
                    <a:pt x="0" y="169765"/>
                  </a:lnTo>
                  <a:cubicBezTo>
                    <a:pt x="0" y="124741"/>
                    <a:pt x="17886" y="81560"/>
                    <a:pt x="49723" y="49723"/>
                  </a:cubicBezTo>
                  <a:cubicBezTo>
                    <a:pt x="81560" y="17886"/>
                    <a:pt x="124741" y="0"/>
                    <a:pt x="169765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697489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895075" y="5569941"/>
            <a:ext cx="2325784" cy="1432665"/>
            <a:chOff x="0" y="0"/>
            <a:chExt cx="697489" cy="42964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97489" cy="429648"/>
            </a:xfrm>
            <a:custGeom>
              <a:avLst/>
              <a:gdLst/>
              <a:ahLst/>
              <a:cxnLst/>
              <a:rect l="l" t="t" r="r" b="b"/>
              <a:pathLst>
                <a:path w="697489" h="429648">
                  <a:moveTo>
                    <a:pt x="169765" y="0"/>
                  </a:moveTo>
                  <a:lnTo>
                    <a:pt x="527724" y="0"/>
                  </a:lnTo>
                  <a:cubicBezTo>
                    <a:pt x="572748" y="0"/>
                    <a:pt x="615929" y="17886"/>
                    <a:pt x="647766" y="49723"/>
                  </a:cubicBezTo>
                  <a:cubicBezTo>
                    <a:pt x="679603" y="81560"/>
                    <a:pt x="697489" y="124741"/>
                    <a:pt x="697489" y="169765"/>
                  </a:cubicBezTo>
                  <a:lnTo>
                    <a:pt x="697489" y="259883"/>
                  </a:lnTo>
                  <a:cubicBezTo>
                    <a:pt x="697489" y="304907"/>
                    <a:pt x="679603" y="348088"/>
                    <a:pt x="647766" y="379925"/>
                  </a:cubicBezTo>
                  <a:cubicBezTo>
                    <a:pt x="615929" y="411762"/>
                    <a:pt x="572748" y="429648"/>
                    <a:pt x="527724" y="429648"/>
                  </a:cubicBezTo>
                  <a:lnTo>
                    <a:pt x="169765" y="429648"/>
                  </a:lnTo>
                  <a:cubicBezTo>
                    <a:pt x="76007" y="429648"/>
                    <a:pt x="0" y="353641"/>
                    <a:pt x="0" y="259883"/>
                  </a:cubicBezTo>
                  <a:lnTo>
                    <a:pt x="0" y="169765"/>
                  </a:lnTo>
                  <a:cubicBezTo>
                    <a:pt x="0" y="124741"/>
                    <a:pt x="17886" y="81560"/>
                    <a:pt x="49723" y="49723"/>
                  </a:cubicBezTo>
                  <a:cubicBezTo>
                    <a:pt x="81560" y="17886"/>
                    <a:pt x="124741" y="0"/>
                    <a:pt x="169765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697489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914125" y="7002606"/>
            <a:ext cx="2325784" cy="1432665"/>
            <a:chOff x="0" y="0"/>
            <a:chExt cx="697489" cy="4296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97489" cy="429648"/>
            </a:xfrm>
            <a:custGeom>
              <a:avLst/>
              <a:gdLst/>
              <a:ahLst/>
              <a:cxnLst/>
              <a:rect l="l" t="t" r="r" b="b"/>
              <a:pathLst>
                <a:path w="697489" h="429648">
                  <a:moveTo>
                    <a:pt x="169765" y="0"/>
                  </a:moveTo>
                  <a:lnTo>
                    <a:pt x="527724" y="0"/>
                  </a:lnTo>
                  <a:cubicBezTo>
                    <a:pt x="572748" y="0"/>
                    <a:pt x="615929" y="17886"/>
                    <a:pt x="647766" y="49723"/>
                  </a:cubicBezTo>
                  <a:cubicBezTo>
                    <a:pt x="679603" y="81560"/>
                    <a:pt x="697489" y="124741"/>
                    <a:pt x="697489" y="169765"/>
                  </a:cubicBezTo>
                  <a:lnTo>
                    <a:pt x="697489" y="259883"/>
                  </a:lnTo>
                  <a:cubicBezTo>
                    <a:pt x="697489" y="304907"/>
                    <a:pt x="679603" y="348088"/>
                    <a:pt x="647766" y="379925"/>
                  </a:cubicBezTo>
                  <a:cubicBezTo>
                    <a:pt x="615929" y="411762"/>
                    <a:pt x="572748" y="429648"/>
                    <a:pt x="527724" y="429648"/>
                  </a:cubicBezTo>
                  <a:lnTo>
                    <a:pt x="169765" y="429648"/>
                  </a:lnTo>
                  <a:cubicBezTo>
                    <a:pt x="76007" y="429648"/>
                    <a:pt x="0" y="353641"/>
                    <a:pt x="0" y="259883"/>
                  </a:cubicBezTo>
                  <a:lnTo>
                    <a:pt x="0" y="169765"/>
                  </a:lnTo>
                  <a:cubicBezTo>
                    <a:pt x="0" y="124741"/>
                    <a:pt x="17886" y="81560"/>
                    <a:pt x="49723" y="49723"/>
                  </a:cubicBezTo>
                  <a:cubicBezTo>
                    <a:pt x="81560" y="17886"/>
                    <a:pt x="124741" y="0"/>
                    <a:pt x="169765" y="0"/>
                  </a:cubicBez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697489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933175" y="8435271"/>
            <a:ext cx="2325784" cy="1432665"/>
            <a:chOff x="0" y="0"/>
            <a:chExt cx="697489" cy="4296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97489" cy="429648"/>
            </a:xfrm>
            <a:custGeom>
              <a:avLst/>
              <a:gdLst/>
              <a:ahLst/>
              <a:cxnLst/>
              <a:rect l="l" t="t" r="r" b="b"/>
              <a:pathLst>
                <a:path w="697489" h="429648">
                  <a:moveTo>
                    <a:pt x="169765" y="0"/>
                  </a:moveTo>
                  <a:lnTo>
                    <a:pt x="527724" y="0"/>
                  </a:lnTo>
                  <a:cubicBezTo>
                    <a:pt x="572748" y="0"/>
                    <a:pt x="615929" y="17886"/>
                    <a:pt x="647766" y="49723"/>
                  </a:cubicBezTo>
                  <a:cubicBezTo>
                    <a:pt x="679603" y="81560"/>
                    <a:pt x="697489" y="124741"/>
                    <a:pt x="697489" y="169765"/>
                  </a:cubicBezTo>
                  <a:lnTo>
                    <a:pt x="697489" y="259883"/>
                  </a:lnTo>
                  <a:cubicBezTo>
                    <a:pt x="697489" y="304907"/>
                    <a:pt x="679603" y="348088"/>
                    <a:pt x="647766" y="379925"/>
                  </a:cubicBezTo>
                  <a:cubicBezTo>
                    <a:pt x="615929" y="411762"/>
                    <a:pt x="572748" y="429648"/>
                    <a:pt x="527724" y="429648"/>
                  </a:cubicBezTo>
                  <a:lnTo>
                    <a:pt x="169765" y="429648"/>
                  </a:lnTo>
                  <a:cubicBezTo>
                    <a:pt x="76007" y="429648"/>
                    <a:pt x="0" y="353641"/>
                    <a:pt x="0" y="259883"/>
                  </a:cubicBezTo>
                  <a:lnTo>
                    <a:pt x="0" y="169765"/>
                  </a:lnTo>
                  <a:cubicBezTo>
                    <a:pt x="0" y="124741"/>
                    <a:pt x="17886" y="81560"/>
                    <a:pt x="49723" y="49723"/>
                  </a:cubicBezTo>
                  <a:cubicBezTo>
                    <a:pt x="81560" y="17886"/>
                    <a:pt x="124741" y="0"/>
                    <a:pt x="169765" y="0"/>
                  </a:cubicBezTo>
                  <a:close/>
                </a:path>
              </a:pathLst>
            </a:custGeom>
            <a:solidFill>
              <a:srgbClr val="56C1CA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697489" cy="448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3" name="Freeform 53"/>
          <p:cNvSpPr/>
          <p:nvPr/>
        </p:nvSpPr>
        <p:spPr>
          <a:xfrm>
            <a:off x="6236515" y="886519"/>
            <a:ext cx="2756099" cy="3338887"/>
          </a:xfrm>
          <a:custGeom>
            <a:avLst/>
            <a:gdLst/>
            <a:ahLst/>
            <a:cxnLst/>
            <a:rect l="l" t="t" r="r" b="b"/>
            <a:pathLst>
              <a:path w="2756099" h="3338887">
                <a:moveTo>
                  <a:pt x="0" y="0"/>
                </a:moveTo>
                <a:lnTo>
                  <a:pt x="2756100" y="0"/>
                </a:lnTo>
                <a:lnTo>
                  <a:pt x="2756100" y="3338887"/>
                </a:lnTo>
                <a:lnTo>
                  <a:pt x="0" y="3338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4" name="TextBox 54"/>
          <p:cNvSpPr txBox="1"/>
          <p:nvPr/>
        </p:nvSpPr>
        <p:spPr>
          <a:xfrm>
            <a:off x="288983" y="289726"/>
            <a:ext cx="6193860" cy="212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4"/>
              </a:lnSpc>
              <a:spcBef>
                <a:spcPct val="0"/>
              </a:spcBef>
            </a:pPr>
            <a:r>
              <a:rPr lang="en-US" sz="6662">
                <a:solidFill>
                  <a:srgbClr val="1A1A1A"/>
                </a:solidFill>
                <a:latin typeface="Codec Pro ExtraBold"/>
              </a:rPr>
              <a:t>RISK IMPACT(I) SCALE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44000" y="289726"/>
            <a:ext cx="8848113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991"/>
              </a:lnSpc>
              <a:spcBef>
                <a:spcPct val="0"/>
              </a:spcBef>
            </a:pPr>
            <a:r>
              <a:rPr lang="en-US" sz="6659">
                <a:solidFill>
                  <a:srgbClr val="1A1A1A"/>
                </a:solidFill>
                <a:latin typeface="Codec Pro ExtraBold"/>
              </a:rPr>
              <a:t>RISK PROBABILITY(P) SCALE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8983" y="3097540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 dirty="0">
                <a:solidFill>
                  <a:srgbClr val="FFFFFF"/>
                </a:solidFill>
                <a:latin typeface="Montserrat Light"/>
              </a:rPr>
              <a:t>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88983" y="4525271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 dirty="0">
                <a:solidFill>
                  <a:srgbClr val="FFFFFF"/>
                </a:solidFill>
                <a:latin typeface="Montserrat Light"/>
              </a:rPr>
              <a:t>4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88983" y="5953001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88983" y="7380731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88983" y="8808462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7248570" y="3014639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5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7248570" y="4442369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7248570" y="5870100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7248570" y="7297830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7248570" y="8725560"/>
            <a:ext cx="743542" cy="61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891" spc="221">
                <a:solidFill>
                  <a:srgbClr val="FFFFFF"/>
                </a:solidFill>
                <a:latin typeface="Montserrat Light"/>
              </a:rPr>
              <a:t>1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32525" y="4539731"/>
            <a:ext cx="5970887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Long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T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erm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D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ifficulties</a:t>
            </a:r>
            <a:endParaRPr lang="en-US" sz="2691" spc="153" dirty="0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032525" y="5972396"/>
            <a:ext cx="6168145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Short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T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erm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D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ifficulties</a:t>
            </a:r>
            <a:endParaRPr lang="en-US" sz="2691" spc="153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032525" y="7405061"/>
            <a:ext cx="5601028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Small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S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cale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D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amage</a:t>
            </a:r>
            <a:endParaRPr lang="en-US" sz="2691" spc="153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032525" y="8837727"/>
            <a:ext cx="6316089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Has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N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o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I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mpact</a:t>
            </a:r>
            <a:endParaRPr lang="en-US" sz="2691" spc="153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0595047" y="4571438"/>
            <a:ext cx="6464032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18"/>
              </a:lnSpc>
            </a:pP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Many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E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xperience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T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his</a:t>
            </a:r>
            <a:endParaRPr lang="en-US" sz="2691" spc="153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1236136" y="5974354"/>
            <a:ext cx="5822943" cy="43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18"/>
              </a:lnSpc>
            </a:pP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Happens </a:t>
            </a:r>
            <a:r>
              <a:rPr lang="tr-TR" sz="2691" spc="153">
                <a:solidFill>
                  <a:srgbClr val="191919"/>
                </a:solidFill>
                <a:latin typeface="Montserrat Light Bold"/>
              </a:rPr>
              <a:t>Q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uite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O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ften</a:t>
            </a:r>
            <a:endParaRPr lang="en-US" sz="2691" spc="153" dirty="0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1088217" y="7436769"/>
            <a:ext cx="5970864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18"/>
              </a:lnSpc>
            </a:pP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Small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C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hance </a:t>
            </a:r>
            <a:r>
              <a:rPr lang="en-US" sz="2691" spc="153">
                <a:solidFill>
                  <a:srgbClr val="191919"/>
                </a:solidFill>
                <a:latin typeface="Montserrat Light Bold"/>
              </a:rPr>
              <a:t>of </a:t>
            </a:r>
            <a:r>
              <a:rPr lang="tr-TR" sz="2691" spc="153" smtClean="0">
                <a:solidFill>
                  <a:srgbClr val="191919"/>
                </a:solidFill>
                <a:latin typeface="Montserrat Light Bold"/>
              </a:rPr>
              <a:t>H</a:t>
            </a:r>
            <a:r>
              <a:rPr lang="en-US" sz="2691" spc="153" smtClean="0">
                <a:solidFill>
                  <a:srgbClr val="191919"/>
                </a:solidFill>
                <a:latin typeface="Montserrat Light Bold"/>
              </a:rPr>
              <a:t>appening</a:t>
            </a:r>
            <a:endParaRPr lang="en-US" sz="2691" spc="153" dirty="0">
              <a:solidFill>
                <a:srgbClr val="191919"/>
              </a:solidFill>
              <a:latin typeface="Montserrat Light Bold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8319210" y="3050970"/>
            <a:ext cx="1477513" cy="7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391" spc="136">
                <a:solidFill>
                  <a:srgbClr val="FFFFFF"/>
                </a:solidFill>
                <a:latin typeface="Montserrat Light Bold"/>
              </a:rPr>
              <a:t>VERY HIGH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281110" y="4616396"/>
            <a:ext cx="1477513" cy="394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391" spc="136">
                <a:solidFill>
                  <a:srgbClr val="FFFFFF"/>
                </a:solidFill>
                <a:latin typeface="Montserrat Light Bold"/>
              </a:rPr>
              <a:t>HIGH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347785" y="6049061"/>
            <a:ext cx="1496563" cy="394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391" spc="136">
                <a:solidFill>
                  <a:srgbClr val="FFFFFF"/>
                </a:solidFill>
                <a:latin typeface="Montserrat Light Bold"/>
              </a:rPr>
              <a:t>MEDIUM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366835" y="7459248"/>
            <a:ext cx="1477513" cy="394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391" spc="136">
                <a:solidFill>
                  <a:srgbClr val="FFFFFF"/>
                </a:solidFill>
                <a:latin typeface="Montserrat Light Bold"/>
              </a:rPr>
              <a:t>LOW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300160" y="8749008"/>
            <a:ext cx="1477513" cy="7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391" spc="136">
                <a:solidFill>
                  <a:srgbClr val="FFFFFF"/>
                </a:solidFill>
                <a:latin typeface="Montserrat Light Bold"/>
              </a:rPr>
              <a:t>VERY LOW</a:t>
            </a:r>
          </a:p>
        </p:txBody>
      </p:sp>
    </p:spTree>
    <p:extLst>
      <p:ext uri="{BB962C8B-B14F-4D97-AF65-F5344CB8AC3E}">
        <p14:creationId xmlns:p14="http://schemas.microsoft.com/office/powerpoint/2010/main" val="1410850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53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69889"/>
              </p:ext>
            </p:extLst>
          </p:nvPr>
        </p:nvGraphicFramePr>
        <p:xfrm>
          <a:off x="2142910" y="1915223"/>
          <a:ext cx="14124576" cy="6839817"/>
        </p:xfrm>
        <a:graphic>
          <a:graphicData uri="http://schemas.openxmlformats.org/drawingml/2006/table">
            <a:tbl>
              <a:tblPr/>
              <a:tblGrid>
                <a:gridCol w="235409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540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5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5409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5409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5409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013521"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VERY HIGH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5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>
                        <a:solidFill>
                          <a:srgbClr val="2B3360"/>
                        </a:solidFill>
                      </a:endParaRPr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656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LACK OF WORK EXPERIENCE</a:t>
                      </a:r>
                      <a:endParaRPr lang="en-US" sz="18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Montserrat Light Bold"/>
                        </a:rPr>
                        <a:t>MISMATCHED EXPECTATIONS</a:t>
                      </a:r>
                      <a:endParaRPr lang="en-US" sz="1050" dirty="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87326"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HIGH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4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656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656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WORK-LIFE BALANCE</a:t>
                      </a:r>
                      <a:endParaRPr lang="en-US" sz="18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tr-TR" sz="1800" smtClean="0">
                          <a:solidFill>
                            <a:srgbClr val="FFFFFF"/>
                          </a:solidFill>
                          <a:latin typeface="Montserrat Light Bold"/>
                        </a:rPr>
                        <a:t>SOCIAL </a:t>
                      </a:r>
                      <a:r>
                        <a:rPr lang="en-US" sz="1800" smtClean="0">
                          <a:solidFill>
                            <a:srgbClr val="FFFFFF"/>
                          </a:solidFill>
                          <a:latin typeface="Montserrat Light Bold"/>
                        </a:rPr>
                        <a:t>PRESSURE</a:t>
                      </a:r>
                      <a:endParaRPr lang="en-US" sz="1800" dirty="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PSYCHOLOGICAL ISSUES</a:t>
                      </a:r>
                      <a:endParaRPr lang="en-US" sz="18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13521"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MEDIUM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3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656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656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LIMITED NETWORKING</a:t>
                      </a:r>
                      <a:endParaRPr lang="en-US" sz="18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7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DIVERSITY, </a:t>
                      </a:r>
                      <a:r>
                        <a:rPr lang="en-US" sz="1800" smtClean="0">
                          <a:solidFill>
                            <a:srgbClr val="FFFFFF"/>
                          </a:solidFill>
                          <a:latin typeface="Montserrat Light Bold"/>
                        </a:rPr>
                        <a:t>EQUITY</a:t>
                      </a:r>
                      <a:r>
                        <a:rPr lang="tr-TR" sz="1800" smtClean="0">
                          <a:solidFill>
                            <a:srgbClr val="FFFFFF"/>
                          </a:solidFill>
                          <a:latin typeface="Montserrat Light Bold"/>
                        </a:rPr>
                        <a:t>,</a:t>
                      </a:r>
                      <a:r>
                        <a:rPr lang="en-US" sz="1800" smtClean="0">
                          <a:solidFill>
                            <a:srgbClr val="FFFFFF"/>
                          </a:solidFill>
                          <a:latin typeface="Montserrat Light Bold"/>
                        </a:rPr>
                        <a:t> AND </a:t>
                      </a: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INCLUSION CHALLANGES</a:t>
                      </a:r>
                      <a:endParaRPr lang="en-US" sz="18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7326"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LOW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2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656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ADAPTATION TO CORPORATE CULTURE</a:t>
                      </a:r>
                      <a:endParaRPr lang="en-US" sz="18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ETHICAL</a:t>
                      </a:r>
                      <a:endParaRPr lang="en-US" sz="1800"/>
                    </a:p>
                    <a:p>
                      <a:pPr algn="ctr">
                        <a:lnSpc>
                          <a:spcPts val="2536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 DILEMMAS</a:t>
                      </a:r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2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212061"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VERY LOW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1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DA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endParaRPr lang="en-US" sz="1100" dirty="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6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Montserrat Light Bold"/>
                        </a:rPr>
                        <a:t>GLOBAL RECESSION AND CRISES</a:t>
                      </a:r>
                      <a:endParaRPr lang="en-US" sz="18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013521">
                <a:tc>
                  <a:txBody>
                    <a:bodyPr/>
                    <a:lstStyle/>
                    <a:p>
                      <a:pPr algn="ctr">
                        <a:lnSpc>
                          <a:spcPts val="2356"/>
                        </a:lnSpc>
                        <a:defRPr/>
                      </a:pP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VERY LOW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1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/>
                    </a:p>
                  </a:txBody>
                  <a:tcPr marL="105031" marR="105031" marT="105031" marB="105031" anchor="ctr">
                    <a:lnL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DA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LOW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2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MEDIUM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3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HIGH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4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9"/>
                        </a:lnSpc>
                        <a:defRPr/>
                      </a:pPr>
                      <a:r>
                        <a:rPr lang="en-US" sz="1963" dirty="0">
                          <a:solidFill>
                            <a:srgbClr val="2B3360"/>
                          </a:solidFill>
                          <a:latin typeface="Montserrat Light Bold"/>
                        </a:rPr>
                        <a:t>VERY </a:t>
                      </a:r>
                      <a:r>
                        <a:rPr lang="en-US" sz="1963">
                          <a:solidFill>
                            <a:srgbClr val="2B3360"/>
                          </a:solidFill>
                          <a:latin typeface="Montserrat Light Bold"/>
                        </a:rPr>
                        <a:t>HIGH 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(</a:t>
                      </a:r>
                      <a:r>
                        <a:rPr lang="en-US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5</a:t>
                      </a:r>
                      <a:r>
                        <a:rPr lang="tr-TR" sz="1963" smtClean="0">
                          <a:solidFill>
                            <a:srgbClr val="2B3360"/>
                          </a:solidFill>
                          <a:latin typeface="Montserrat Light Bold"/>
                        </a:rPr>
                        <a:t>)</a:t>
                      </a:r>
                      <a:endParaRPr lang="en-US" sz="1100" dirty="0"/>
                    </a:p>
                  </a:txBody>
                  <a:tcPr marL="105031" marR="105031" marT="105031" marB="105031" anchor="ctr">
                    <a:lnL w="18228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5312" cap="flat" cmpd="sng" algn="ctr">
                      <a:solidFill>
                        <a:srgbClr val="2B33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888592" y="1915223"/>
            <a:ext cx="1056711" cy="7847900"/>
            <a:chOff x="0" y="0"/>
            <a:chExt cx="1004375" cy="7459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04375" cy="7459219"/>
            </a:xfrm>
            <a:custGeom>
              <a:avLst/>
              <a:gdLst/>
              <a:ahLst/>
              <a:cxnLst/>
              <a:rect l="l" t="t" r="r" b="b"/>
              <a:pathLst>
                <a:path w="1004375" h="7459219">
                  <a:moveTo>
                    <a:pt x="502188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7459219"/>
                  </a:lnTo>
                  <a:lnTo>
                    <a:pt x="801175" y="7459219"/>
                  </a:lnTo>
                  <a:lnTo>
                    <a:pt x="801175" y="406400"/>
                  </a:lnTo>
                  <a:lnTo>
                    <a:pt x="1004375" y="406400"/>
                  </a:lnTo>
                  <a:lnTo>
                    <a:pt x="502188" y="0"/>
                  </a:ln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200" y="92075"/>
              <a:ext cx="597975" cy="7367144"/>
            </a:xfrm>
            <a:prstGeom prst="rect">
              <a:avLst/>
            </a:prstGeom>
          </p:spPr>
          <p:txBody>
            <a:bodyPr lIns="23221" tIns="23221" rIns="23221" bIns="23221" rtlCol="0" anchor="ctr"/>
            <a:lstStyle/>
            <a:p>
              <a:pPr algn="ctr">
                <a:lnSpc>
                  <a:spcPts val="76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981357" y="1590176"/>
            <a:ext cx="1063226" cy="15704381"/>
            <a:chOff x="0" y="0"/>
            <a:chExt cx="1010568" cy="149265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0568" cy="14926594"/>
            </a:xfrm>
            <a:custGeom>
              <a:avLst/>
              <a:gdLst/>
              <a:ahLst/>
              <a:cxnLst/>
              <a:rect l="l" t="t" r="r" b="b"/>
              <a:pathLst>
                <a:path w="1010568" h="14926594">
                  <a:moveTo>
                    <a:pt x="505284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4926594"/>
                  </a:lnTo>
                  <a:lnTo>
                    <a:pt x="807368" y="14926594"/>
                  </a:lnTo>
                  <a:lnTo>
                    <a:pt x="807368" y="406400"/>
                  </a:lnTo>
                  <a:lnTo>
                    <a:pt x="1010568" y="406400"/>
                  </a:lnTo>
                  <a:lnTo>
                    <a:pt x="505284" y="0"/>
                  </a:lnTo>
                  <a:close/>
                </a:path>
              </a:pathLst>
            </a:custGeom>
            <a:solidFill>
              <a:srgbClr val="429EA6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3200" y="92075"/>
              <a:ext cx="604168" cy="14834519"/>
            </a:xfrm>
            <a:prstGeom prst="rect">
              <a:avLst/>
            </a:prstGeom>
          </p:spPr>
          <p:txBody>
            <a:bodyPr lIns="23221" tIns="23221" rIns="23221" bIns="23221" rtlCol="0" anchor="ctr"/>
            <a:lstStyle/>
            <a:p>
              <a:pPr algn="ctr">
                <a:lnSpc>
                  <a:spcPts val="76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4511" y="7821332"/>
            <a:ext cx="1331461" cy="2465668"/>
          </a:xfrm>
          <a:custGeom>
            <a:avLst/>
            <a:gdLst/>
            <a:ahLst/>
            <a:cxnLst/>
            <a:rect l="l" t="t" r="r" b="b"/>
            <a:pathLst>
              <a:path w="1331461" h="2465668">
                <a:moveTo>
                  <a:pt x="0" y="0"/>
                </a:moveTo>
                <a:lnTo>
                  <a:pt x="1331461" y="0"/>
                </a:lnTo>
                <a:lnTo>
                  <a:pt x="1331461" y="2465668"/>
                </a:lnTo>
                <a:lnTo>
                  <a:pt x="0" y="246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TextBox 10"/>
          <p:cNvSpPr txBox="1"/>
          <p:nvPr/>
        </p:nvSpPr>
        <p:spPr>
          <a:xfrm>
            <a:off x="7333220" y="9135206"/>
            <a:ext cx="3098155" cy="64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208">
                <a:solidFill>
                  <a:srgbClr val="FFFFFF"/>
                </a:solidFill>
                <a:latin typeface="Codec Pro ExtraBold Bold"/>
              </a:rPr>
              <a:t>IMPACT</a:t>
            </a:r>
          </a:p>
        </p:txBody>
      </p:sp>
      <p:sp>
        <p:nvSpPr>
          <p:cNvPr id="11" name="TextBox 11"/>
          <p:cNvSpPr txBox="1"/>
          <p:nvPr/>
        </p:nvSpPr>
        <p:spPr>
          <a:xfrm rot="-5400000">
            <a:off x="-520493" y="5525939"/>
            <a:ext cx="4032405" cy="62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4208">
                <a:solidFill>
                  <a:srgbClr val="FFFFFF"/>
                </a:solidFill>
                <a:latin typeface="Codec Pro ExtraBold Bold"/>
              </a:rPr>
              <a:t>PROBABILITY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2910" y="1066800"/>
            <a:ext cx="4117810" cy="480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2"/>
              </a:lnSpc>
              <a:spcBef>
                <a:spcPct val="0"/>
              </a:spcBef>
            </a:pPr>
            <a:r>
              <a:rPr lang="en-US" sz="3425">
                <a:solidFill>
                  <a:srgbClr val="347C82"/>
                </a:solidFill>
                <a:latin typeface="Codec Pro ExtraBold Bold"/>
              </a:rPr>
              <a:t>RISK SCORE = P X 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95291" y="2445416"/>
            <a:ext cx="225859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>
                <a:solidFill>
                  <a:srgbClr val="FFFFFF"/>
                </a:solidFill>
                <a:latin typeface="Montserrat Light"/>
              </a:rPr>
              <a:t>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95291" y="3593262"/>
            <a:ext cx="230709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10392" y="4601224"/>
            <a:ext cx="210758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10392" y="5839173"/>
            <a:ext cx="232252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12376" y="2420051"/>
            <a:ext cx="421736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08894" y="3612449"/>
            <a:ext cx="246692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2488" y="4604045"/>
            <a:ext cx="241512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13291" y="5822767"/>
            <a:ext cx="230709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1748" y="6915233"/>
            <a:ext cx="232252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15771" y="6915233"/>
            <a:ext cx="148368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04939" y="7025039"/>
            <a:ext cx="230709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645144" y="5897786"/>
            <a:ext cx="195877" cy="42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 Light"/>
              </a:rPr>
              <a:t>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04939" y="4724960"/>
            <a:ext cx="302248" cy="42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 Light"/>
              </a:rPr>
              <a:t>12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55948" y="3726451"/>
            <a:ext cx="309523" cy="42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 Light"/>
              </a:rPr>
              <a:t>16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09873" y="2478665"/>
            <a:ext cx="401674" cy="425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 Light"/>
              </a:rPr>
              <a:t>20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05377" y="7041222"/>
            <a:ext cx="210758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63553" y="5796742"/>
            <a:ext cx="241512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05377" y="4666347"/>
            <a:ext cx="241512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81382" y="3593262"/>
            <a:ext cx="380620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12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181382" y="2420051"/>
            <a:ext cx="374227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15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977074" y="7025039"/>
            <a:ext cx="225859" cy="54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147" dirty="0">
                <a:solidFill>
                  <a:srgbClr val="FFFFFF"/>
                </a:solidFill>
                <a:latin typeface="Montserrat Light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894691" y="5859778"/>
            <a:ext cx="334986" cy="42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 Light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891737" y="4718451"/>
            <a:ext cx="297177" cy="42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 Light"/>
              </a:rPr>
              <a:t>15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846907" y="3669290"/>
            <a:ext cx="401674" cy="42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 Light"/>
              </a:rPr>
              <a:t>20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865811" y="2504029"/>
            <a:ext cx="363866" cy="42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Montserrat Light"/>
              </a:rPr>
              <a:t>25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77219" y="213717"/>
            <a:ext cx="8471842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536"/>
              </a:lnSpc>
              <a:spcBef>
                <a:spcPct val="0"/>
              </a:spcBef>
            </a:pPr>
            <a:r>
              <a:rPr lang="en-US" sz="7947">
                <a:solidFill>
                  <a:srgbClr val="1A1A1A"/>
                </a:solidFill>
                <a:latin typeface="Codec Pro ExtraBold"/>
              </a:rPr>
              <a:t>RISK MATRIX</a:t>
            </a:r>
          </a:p>
        </p:txBody>
      </p:sp>
      <p:sp>
        <p:nvSpPr>
          <p:cNvPr id="39" name="Freeform 39"/>
          <p:cNvSpPr/>
          <p:nvPr/>
        </p:nvSpPr>
        <p:spPr>
          <a:xfrm rot="10446475">
            <a:off x="-3027116" y="-5742461"/>
            <a:ext cx="9934884" cy="8800259"/>
          </a:xfrm>
          <a:custGeom>
            <a:avLst/>
            <a:gdLst/>
            <a:ahLst/>
            <a:cxnLst/>
            <a:rect l="l" t="t" r="r" b="b"/>
            <a:pathLst>
              <a:path w="9934884" h="8800259">
                <a:moveTo>
                  <a:pt x="0" y="0"/>
                </a:moveTo>
                <a:lnTo>
                  <a:pt x="9934884" y="0"/>
                </a:lnTo>
                <a:lnTo>
                  <a:pt x="9934884" y="8800259"/>
                </a:lnTo>
                <a:lnTo>
                  <a:pt x="0" y="880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437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5881" y="0"/>
            <a:ext cx="18443881" cy="10287000"/>
          </a:xfrm>
          <a:custGeom>
            <a:avLst/>
            <a:gdLst/>
            <a:ahLst/>
            <a:cxnLst/>
            <a:rect l="l" t="t" r="r" b="b"/>
            <a:pathLst>
              <a:path w="18443881" h="10287000">
                <a:moveTo>
                  <a:pt x="0" y="0"/>
                </a:moveTo>
                <a:lnTo>
                  <a:pt x="18443881" y="0"/>
                </a:lnTo>
                <a:lnTo>
                  <a:pt x="184438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-8199" r="-8199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 rot="10446475">
            <a:off x="11670385" y="3905874"/>
            <a:ext cx="9934884" cy="8800259"/>
          </a:xfrm>
          <a:custGeom>
            <a:avLst/>
            <a:gdLst/>
            <a:ahLst/>
            <a:cxnLst/>
            <a:rect l="l" t="t" r="r" b="b"/>
            <a:pathLst>
              <a:path w="9934884" h="8800259">
                <a:moveTo>
                  <a:pt x="0" y="0"/>
                </a:moveTo>
                <a:lnTo>
                  <a:pt x="9934884" y="0"/>
                </a:lnTo>
                <a:lnTo>
                  <a:pt x="9934884" y="8800259"/>
                </a:lnTo>
                <a:lnTo>
                  <a:pt x="0" y="88002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10446475">
            <a:off x="-3057765" y="-4553195"/>
            <a:ext cx="9934884" cy="8800259"/>
          </a:xfrm>
          <a:custGeom>
            <a:avLst/>
            <a:gdLst/>
            <a:ahLst/>
            <a:cxnLst/>
            <a:rect l="l" t="t" r="r" b="b"/>
            <a:pathLst>
              <a:path w="9934884" h="8800259">
                <a:moveTo>
                  <a:pt x="0" y="0"/>
                </a:moveTo>
                <a:lnTo>
                  <a:pt x="9934884" y="0"/>
                </a:lnTo>
                <a:lnTo>
                  <a:pt x="9934884" y="8800259"/>
                </a:lnTo>
                <a:lnTo>
                  <a:pt x="0" y="88002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5" name="Group 5"/>
          <p:cNvGrpSpPr/>
          <p:nvPr/>
        </p:nvGrpSpPr>
        <p:grpSpPr>
          <a:xfrm>
            <a:off x="740275" y="1028700"/>
            <a:ext cx="16807449" cy="8860688"/>
            <a:chOff x="0" y="0"/>
            <a:chExt cx="4578581" cy="24137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8581" cy="2413773"/>
            </a:xfrm>
            <a:custGeom>
              <a:avLst/>
              <a:gdLst/>
              <a:ahLst/>
              <a:cxnLst/>
              <a:rect l="l" t="t" r="r" b="b"/>
              <a:pathLst>
                <a:path w="4578581" h="2413773">
                  <a:moveTo>
                    <a:pt x="0" y="0"/>
                  </a:moveTo>
                  <a:lnTo>
                    <a:pt x="4578581" y="0"/>
                  </a:lnTo>
                  <a:lnTo>
                    <a:pt x="4578581" y="2413773"/>
                  </a:lnTo>
                  <a:lnTo>
                    <a:pt x="0" y="2413773"/>
                  </a:lnTo>
                  <a:close/>
                </a:path>
              </a:pathLst>
            </a:custGeom>
            <a:solidFill>
              <a:srgbClr val="1A1A1A">
                <a:alpha val="56863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4578581" cy="2432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7983" y="1179082"/>
            <a:ext cx="691254" cy="694117"/>
            <a:chOff x="0" y="0"/>
            <a:chExt cx="921672" cy="92549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21672" cy="925490"/>
              <a:chOff x="0" y="0"/>
              <a:chExt cx="812800" cy="81616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54241" y="200555"/>
              <a:ext cx="613189" cy="505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6"/>
                </a:lnSpc>
              </a:pPr>
              <a:r>
                <a:rPr lang="en-US" sz="2406" spc="137">
                  <a:solidFill>
                    <a:srgbClr val="FFFFFF"/>
                  </a:solidFill>
                  <a:latin typeface="Montserrat Light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97983" y="2882936"/>
            <a:ext cx="691254" cy="694117"/>
            <a:chOff x="0" y="0"/>
            <a:chExt cx="921672" cy="92549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921672" cy="925490"/>
              <a:chOff x="0" y="0"/>
              <a:chExt cx="812800" cy="81616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54241" y="200555"/>
              <a:ext cx="613189" cy="505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6"/>
                </a:lnSpc>
              </a:pPr>
              <a:r>
                <a:rPr lang="en-US" sz="2406" spc="137">
                  <a:solidFill>
                    <a:srgbClr val="FFFFFF"/>
                  </a:solidFill>
                  <a:latin typeface="Montserrat Light"/>
                </a:rPr>
                <a:t>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7983" y="4596477"/>
            <a:ext cx="691254" cy="694117"/>
            <a:chOff x="0" y="0"/>
            <a:chExt cx="921672" cy="92549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21672" cy="925490"/>
              <a:chOff x="0" y="0"/>
              <a:chExt cx="812800" cy="8161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54241" y="200555"/>
              <a:ext cx="613189" cy="505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6"/>
                </a:lnSpc>
              </a:pPr>
              <a:r>
                <a:rPr lang="en-US" sz="2406" spc="137">
                  <a:solidFill>
                    <a:srgbClr val="FFFFFF"/>
                  </a:solidFill>
                  <a:latin typeface="Montserrat Light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97983" y="2029752"/>
            <a:ext cx="691254" cy="694117"/>
            <a:chOff x="0" y="0"/>
            <a:chExt cx="921672" cy="92549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921672" cy="925490"/>
              <a:chOff x="0" y="0"/>
              <a:chExt cx="812800" cy="81616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54241" y="200555"/>
              <a:ext cx="613189" cy="505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6"/>
                </a:lnSpc>
              </a:pPr>
              <a:r>
                <a:rPr lang="en-US" sz="2406" spc="137">
                  <a:solidFill>
                    <a:srgbClr val="FFFFFF"/>
                  </a:solidFill>
                  <a:latin typeface="Montserrat Light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97983" y="3736120"/>
            <a:ext cx="691254" cy="694117"/>
            <a:chOff x="0" y="0"/>
            <a:chExt cx="921672" cy="92549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921672" cy="925490"/>
              <a:chOff x="0" y="0"/>
              <a:chExt cx="812800" cy="81616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54241" y="200555"/>
              <a:ext cx="613189" cy="505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6"/>
                </a:lnSpc>
              </a:pPr>
              <a:r>
                <a:rPr lang="en-US" sz="2406" spc="137">
                  <a:solidFill>
                    <a:srgbClr val="FFFFFF"/>
                  </a:solidFill>
                  <a:latin typeface="Montserrat Light"/>
                </a:rPr>
                <a:t>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97983" y="5447147"/>
            <a:ext cx="757618" cy="760756"/>
            <a:chOff x="0" y="0"/>
            <a:chExt cx="1010157" cy="1014341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010157" cy="1014341"/>
              <a:chOff x="0" y="0"/>
              <a:chExt cx="812800" cy="81616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8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69049" y="221638"/>
              <a:ext cx="672058" cy="55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2638" spc="150">
                  <a:solidFill>
                    <a:srgbClr val="FFFFFF"/>
                  </a:solidFill>
                  <a:latin typeface="Montserrat Light"/>
                </a:rPr>
                <a:t>6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97983" y="6324128"/>
            <a:ext cx="757618" cy="760756"/>
            <a:chOff x="0" y="0"/>
            <a:chExt cx="1010157" cy="1014341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010157" cy="1014341"/>
              <a:chOff x="0" y="0"/>
              <a:chExt cx="812800" cy="81616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8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69049" y="221638"/>
              <a:ext cx="672058" cy="55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2638" spc="150">
                  <a:solidFill>
                    <a:srgbClr val="FFFFFF"/>
                  </a:solidFill>
                  <a:latin typeface="Montserrat Light"/>
                </a:rPr>
                <a:t>7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97983" y="7200176"/>
            <a:ext cx="757618" cy="760756"/>
            <a:chOff x="0" y="0"/>
            <a:chExt cx="1010157" cy="1014341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1010157" cy="1014341"/>
              <a:chOff x="0" y="0"/>
              <a:chExt cx="812800" cy="81616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8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69049" y="221638"/>
              <a:ext cx="672058" cy="55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2638" spc="150">
                  <a:solidFill>
                    <a:srgbClr val="FFFFFF"/>
                  </a:solidFill>
                  <a:latin typeface="Montserrat Light"/>
                </a:rPr>
                <a:t>8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97983" y="8079278"/>
            <a:ext cx="757618" cy="760756"/>
            <a:chOff x="0" y="0"/>
            <a:chExt cx="1010157" cy="1014341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1010157" cy="1014341"/>
              <a:chOff x="0" y="0"/>
              <a:chExt cx="812800" cy="81616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8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69049" y="221638"/>
              <a:ext cx="672058" cy="55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2638" spc="150">
                  <a:solidFill>
                    <a:srgbClr val="FFFFFF"/>
                  </a:solidFill>
                  <a:latin typeface="Montserrat Light"/>
                </a:rPr>
                <a:t>9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97983" y="8956259"/>
            <a:ext cx="757618" cy="760756"/>
            <a:chOff x="0" y="0"/>
            <a:chExt cx="1010157" cy="1014341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1010157" cy="1014341"/>
              <a:chOff x="0" y="0"/>
              <a:chExt cx="812800" cy="81616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616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6167">
                    <a:moveTo>
                      <a:pt x="406400" y="0"/>
                    </a:moveTo>
                    <a:cubicBezTo>
                      <a:pt x="181951" y="0"/>
                      <a:pt x="0" y="182705"/>
                      <a:pt x="0" y="408084"/>
                    </a:cubicBezTo>
                    <a:cubicBezTo>
                      <a:pt x="0" y="633462"/>
                      <a:pt x="181951" y="816167"/>
                      <a:pt x="406400" y="816167"/>
                    </a:cubicBezTo>
                    <a:cubicBezTo>
                      <a:pt x="630849" y="816167"/>
                      <a:pt x="812800" y="633462"/>
                      <a:pt x="812800" y="408084"/>
                    </a:cubicBezTo>
                    <a:cubicBezTo>
                      <a:pt x="812800" y="1827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9EA6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6200" y="-161609"/>
                <a:ext cx="660400" cy="9012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2998"/>
                  </a:lnSpc>
                </a:pPr>
                <a:endParaRPr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169049" y="221638"/>
              <a:ext cx="672058" cy="55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2638" spc="150">
                  <a:solidFill>
                    <a:srgbClr val="FFFFFF"/>
                  </a:solidFill>
                  <a:latin typeface="Montserrat Light"/>
                </a:rPr>
                <a:t>10</a:t>
              </a:r>
            </a:p>
          </p:txBody>
        </p:sp>
      </p:grpSp>
      <p:sp>
        <p:nvSpPr>
          <p:cNvPr id="58" name="Freeform 58"/>
          <p:cNvSpPr/>
          <p:nvPr/>
        </p:nvSpPr>
        <p:spPr>
          <a:xfrm>
            <a:off x="14113717" y="6497788"/>
            <a:ext cx="3480187" cy="3391600"/>
          </a:xfrm>
          <a:custGeom>
            <a:avLst/>
            <a:gdLst/>
            <a:ahLst/>
            <a:cxnLst/>
            <a:rect l="l" t="t" r="r" b="b"/>
            <a:pathLst>
              <a:path w="3480187" h="3391600">
                <a:moveTo>
                  <a:pt x="0" y="0"/>
                </a:moveTo>
                <a:lnTo>
                  <a:pt x="3480186" y="0"/>
                </a:lnTo>
                <a:lnTo>
                  <a:pt x="3480186" y="3391600"/>
                </a:lnTo>
                <a:lnTo>
                  <a:pt x="0" y="3391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9" name="TextBox 59"/>
          <p:cNvSpPr txBox="1"/>
          <p:nvPr/>
        </p:nvSpPr>
        <p:spPr>
          <a:xfrm>
            <a:off x="2133213" y="1319339"/>
            <a:ext cx="7232217" cy="39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6"/>
              </a:lnSpc>
            </a:pPr>
            <a:r>
              <a:rPr lang="en-US" sz="2406" spc="137">
                <a:solidFill>
                  <a:srgbClr val="F2F2F2"/>
                </a:solidFill>
                <a:latin typeface="Montserrat Light Bold"/>
              </a:rPr>
              <a:t>Lack of Work Experience ---- MITIGATE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133213" y="2172278"/>
            <a:ext cx="8496145" cy="39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406" spc="137">
                <a:solidFill>
                  <a:srgbClr val="F2F2F2"/>
                </a:solidFill>
                <a:latin typeface="Montserrat Light Bold"/>
              </a:rPr>
              <a:t>Limited Networking ---- MITIGATE &amp; TRANSFER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133213" y="3835496"/>
            <a:ext cx="9312281" cy="39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406" spc="137">
                <a:solidFill>
                  <a:srgbClr val="F2F2F2"/>
                </a:solidFill>
                <a:latin typeface="Montserrat Light Bold"/>
              </a:rPr>
              <a:t>Mismatched Expectations ---- MITIGATE &amp;ACCEPT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133213" y="3029171"/>
            <a:ext cx="9111720" cy="39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406" spc="137">
                <a:solidFill>
                  <a:srgbClr val="F2F2F2"/>
                </a:solidFill>
                <a:latin typeface="Montserrat Light Bold"/>
              </a:rPr>
              <a:t>Work Life Balance ---- MITIGATE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133213" y="4739003"/>
            <a:ext cx="10174243" cy="39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406" spc="137">
                <a:solidFill>
                  <a:srgbClr val="F2F2F2"/>
                </a:solidFill>
                <a:latin typeface="Montserrat Light Bold"/>
              </a:rPr>
              <a:t>Adaptation to Corporate Culture ---- MITIGATE &amp; ACCEPT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213399" y="5595660"/>
            <a:ext cx="8415959" cy="41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441" spc="139">
                <a:solidFill>
                  <a:srgbClr val="F2F2F2"/>
                </a:solidFill>
                <a:latin typeface="Montserrat Light Bold"/>
              </a:rPr>
              <a:t>Global Recession and Crises ---- ACCEPT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213399" y="6469213"/>
            <a:ext cx="12493201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441" spc="139">
                <a:solidFill>
                  <a:srgbClr val="F2F2F2"/>
                </a:solidFill>
                <a:latin typeface="Montserrat Light Bold"/>
              </a:rPr>
              <a:t>Diversity, </a:t>
            </a:r>
            <a:r>
              <a:rPr lang="en-US" sz="2441" spc="139" smtClean="0">
                <a:solidFill>
                  <a:srgbClr val="F2F2F2"/>
                </a:solidFill>
                <a:latin typeface="Montserrat Light Bold"/>
              </a:rPr>
              <a:t>Equity</a:t>
            </a:r>
            <a:r>
              <a:rPr lang="tr-TR" sz="2441" spc="139" smtClean="0">
                <a:solidFill>
                  <a:srgbClr val="F2F2F2"/>
                </a:solidFill>
                <a:latin typeface="Montserrat Light Bold"/>
              </a:rPr>
              <a:t>,</a:t>
            </a:r>
            <a:r>
              <a:rPr lang="en-US" sz="2441" spc="139" smtClean="0">
                <a:solidFill>
                  <a:srgbClr val="F2F2F2"/>
                </a:solidFill>
                <a:latin typeface="Montserrat Light Bold"/>
              </a:rPr>
              <a:t> </a:t>
            </a:r>
            <a:r>
              <a:rPr lang="en-US" sz="2441" spc="139">
                <a:solidFill>
                  <a:srgbClr val="F2F2F2"/>
                </a:solidFill>
                <a:latin typeface="Montserrat Light Bold"/>
              </a:rPr>
              <a:t>and Inclusion Challenges ---- MITIGATE &amp; TRANSFER</a:t>
            </a:r>
          </a:p>
          <a:p>
            <a:pPr algn="l">
              <a:lnSpc>
                <a:spcPts val="3100"/>
              </a:lnSpc>
            </a:pPr>
            <a:endParaRPr lang="en-US" sz="2441" spc="139">
              <a:solidFill>
                <a:srgbClr val="F2F2F2"/>
              </a:solidFill>
              <a:latin typeface="Montserrat Light Bold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2213399" y="8227791"/>
            <a:ext cx="7566530" cy="41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441" spc="139">
                <a:solidFill>
                  <a:srgbClr val="F2F2F2"/>
                </a:solidFill>
                <a:latin typeface="Montserrat Light Bold"/>
              </a:rPr>
              <a:t>Ethical Dilemma ---- MITIGATE &amp; ACCEPT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213399" y="9104772"/>
            <a:ext cx="8224692" cy="41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441" spc="139">
                <a:solidFill>
                  <a:srgbClr val="F2F2F2"/>
                </a:solidFill>
                <a:latin typeface="Montserrat Light Bold"/>
              </a:rPr>
              <a:t>Psychological Issues ---- MITIGATE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213399" y="7295495"/>
            <a:ext cx="7566530" cy="41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tr-TR" sz="2441" spc="139" smtClean="0">
                <a:solidFill>
                  <a:srgbClr val="F2F2F2"/>
                </a:solidFill>
                <a:latin typeface="Montserrat Light Bold"/>
              </a:rPr>
              <a:t>Social </a:t>
            </a:r>
            <a:r>
              <a:rPr lang="en-US" sz="2441" spc="139" smtClean="0">
                <a:solidFill>
                  <a:srgbClr val="F2F2F2"/>
                </a:solidFill>
                <a:latin typeface="Montserrat Light Bold"/>
              </a:rPr>
              <a:t>Pressure </a:t>
            </a:r>
            <a:r>
              <a:rPr lang="en-US" sz="2441" spc="139">
                <a:solidFill>
                  <a:srgbClr val="F2F2F2"/>
                </a:solidFill>
                <a:latin typeface="Montserrat Light Bold"/>
              </a:rPr>
              <a:t>---- MITIGATE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282279" y="0"/>
            <a:ext cx="14311625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991"/>
              </a:lnSpc>
              <a:spcBef>
                <a:spcPct val="0"/>
              </a:spcBef>
            </a:pPr>
            <a:r>
              <a:rPr lang="tr-TR" sz="6659" smtClean="0">
                <a:solidFill>
                  <a:srgbClr val="1A1A1A"/>
                </a:solidFill>
                <a:latin typeface="Codec Pro ExtraBold"/>
              </a:rPr>
              <a:t>Risk Response Strategies</a:t>
            </a:r>
            <a:endParaRPr lang="en-US" sz="6659">
              <a:solidFill>
                <a:srgbClr val="1A1A1A"/>
              </a:solidFill>
              <a:latin typeface="Codec Pro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731799">
            <a:off x="-6891338" y="-6721290"/>
            <a:ext cx="23598155" cy="13523489"/>
            <a:chOff x="0" y="0"/>
            <a:chExt cx="6215152" cy="3537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15152" cy="3537410"/>
            </a:xfrm>
            <a:custGeom>
              <a:avLst/>
              <a:gdLst/>
              <a:ahLst/>
              <a:cxnLst/>
              <a:rect l="l" t="t" r="r" b="b"/>
              <a:pathLst>
                <a:path w="6215152" h="3537410">
                  <a:moveTo>
                    <a:pt x="0" y="0"/>
                  </a:moveTo>
                  <a:lnTo>
                    <a:pt x="6215152" y="0"/>
                  </a:lnTo>
                  <a:lnTo>
                    <a:pt x="6215152" y="3537410"/>
                  </a:lnTo>
                  <a:lnTo>
                    <a:pt x="0" y="3537410"/>
                  </a:lnTo>
                  <a:close/>
                </a:path>
              </a:pathLst>
            </a:custGeom>
            <a:solidFill>
              <a:srgbClr val="429EA6">
                <a:alpha val="90980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6215152" cy="3556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280618" y="30464"/>
            <a:ext cx="2869051" cy="5439449"/>
            <a:chOff x="0" y="0"/>
            <a:chExt cx="707797" cy="13419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7797" cy="1341916"/>
            </a:xfrm>
            <a:custGeom>
              <a:avLst/>
              <a:gdLst/>
              <a:ahLst/>
              <a:cxnLst/>
              <a:rect l="l" t="t" r="r" b="b"/>
              <a:pathLst>
                <a:path w="707797" h="1341916">
                  <a:moveTo>
                    <a:pt x="236060" y="19070"/>
                  </a:moveTo>
                  <a:cubicBezTo>
                    <a:pt x="272230" y="7556"/>
                    <a:pt x="313600" y="0"/>
                    <a:pt x="354089" y="0"/>
                  </a:cubicBezTo>
                  <a:cubicBezTo>
                    <a:pt x="394579" y="0"/>
                    <a:pt x="433541" y="6476"/>
                    <a:pt x="469445" y="17990"/>
                  </a:cubicBezTo>
                  <a:cubicBezTo>
                    <a:pt x="470210" y="18350"/>
                    <a:pt x="470974" y="18350"/>
                    <a:pt x="471737" y="18710"/>
                  </a:cubicBezTo>
                  <a:cubicBezTo>
                    <a:pt x="606574" y="64765"/>
                    <a:pt x="705887" y="186379"/>
                    <a:pt x="707797" y="340255"/>
                  </a:cubicBezTo>
                  <a:lnTo>
                    <a:pt x="707797" y="1341916"/>
                  </a:lnTo>
                  <a:lnTo>
                    <a:pt x="0" y="1341916"/>
                  </a:lnTo>
                  <a:lnTo>
                    <a:pt x="0" y="340999"/>
                  </a:lnTo>
                  <a:cubicBezTo>
                    <a:pt x="1910" y="185660"/>
                    <a:pt x="99695" y="64045"/>
                    <a:pt x="236060" y="19070"/>
                  </a:cubicBezTo>
                  <a:close/>
                </a:path>
              </a:pathLst>
            </a:custGeom>
            <a:solidFill>
              <a:srgbClr val="FFFFFF">
                <a:alpha val="94902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950"/>
              <a:ext cx="707797" cy="1233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609102" y="2913016"/>
            <a:ext cx="2268736" cy="2268736"/>
          </a:xfrm>
          <a:custGeom>
            <a:avLst/>
            <a:gdLst/>
            <a:ahLst/>
            <a:cxnLst/>
            <a:rect l="l" t="t" r="r" b="b"/>
            <a:pathLst>
              <a:path w="2268736" h="2268736">
                <a:moveTo>
                  <a:pt x="0" y="0"/>
                </a:moveTo>
                <a:lnTo>
                  <a:pt x="2268736" y="0"/>
                </a:lnTo>
                <a:lnTo>
                  <a:pt x="2268736" y="2268736"/>
                </a:lnTo>
                <a:lnTo>
                  <a:pt x="0" y="2268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9" name="Group 9"/>
          <p:cNvGrpSpPr/>
          <p:nvPr/>
        </p:nvGrpSpPr>
        <p:grpSpPr>
          <a:xfrm>
            <a:off x="15165277" y="5014178"/>
            <a:ext cx="2869051" cy="5439449"/>
            <a:chOff x="0" y="0"/>
            <a:chExt cx="707797" cy="13419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7797" cy="1341916"/>
            </a:xfrm>
            <a:custGeom>
              <a:avLst/>
              <a:gdLst/>
              <a:ahLst/>
              <a:cxnLst/>
              <a:rect l="l" t="t" r="r" b="b"/>
              <a:pathLst>
                <a:path w="707797" h="1341916">
                  <a:moveTo>
                    <a:pt x="236060" y="19070"/>
                  </a:moveTo>
                  <a:cubicBezTo>
                    <a:pt x="272230" y="7556"/>
                    <a:pt x="313600" y="0"/>
                    <a:pt x="354089" y="0"/>
                  </a:cubicBezTo>
                  <a:cubicBezTo>
                    <a:pt x="394579" y="0"/>
                    <a:pt x="433541" y="6476"/>
                    <a:pt x="469445" y="17990"/>
                  </a:cubicBezTo>
                  <a:cubicBezTo>
                    <a:pt x="470210" y="18350"/>
                    <a:pt x="470974" y="18350"/>
                    <a:pt x="471737" y="18710"/>
                  </a:cubicBezTo>
                  <a:cubicBezTo>
                    <a:pt x="606574" y="64765"/>
                    <a:pt x="705887" y="186379"/>
                    <a:pt x="707797" y="340255"/>
                  </a:cubicBezTo>
                  <a:lnTo>
                    <a:pt x="707797" y="1341916"/>
                  </a:lnTo>
                  <a:lnTo>
                    <a:pt x="0" y="1341916"/>
                  </a:lnTo>
                  <a:lnTo>
                    <a:pt x="0" y="340999"/>
                  </a:lnTo>
                  <a:cubicBezTo>
                    <a:pt x="1910" y="185660"/>
                    <a:pt x="99695" y="64045"/>
                    <a:pt x="236060" y="19070"/>
                  </a:cubicBezTo>
                  <a:close/>
                </a:path>
              </a:pathLst>
            </a:custGeom>
            <a:solidFill>
              <a:srgbClr val="FFFFFF">
                <a:alpha val="94902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950"/>
              <a:ext cx="707797" cy="1233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465435" y="5181752"/>
            <a:ext cx="2268736" cy="2268736"/>
            <a:chOff x="0" y="0"/>
            <a:chExt cx="3024981" cy="3024981"/>
          </a:xfrm>
        </p:grpSpPr>
        <p:sp>
          <p:nvSpPr>
            <p:cNvPr id="13" name="Freeform 13"/>
            <p:cNvSpPr/>
            <p:nvPr/>
          </p:nvSpPr>
          <p:spPr>
            <a:xfrm rot="-10800000">
              <a:off x="0" y="0"/>
              <a:ext cx="3024981" cy="3024981"/>
            </a:xfrm>
            <a:custGeom>
              <a:avLst/>
              <a:gdLst/>
              <a:ahLst/>
              <a:cxnLst/>
              <a:rect l="l" t="t" r="r" b="b"/>
              <a:pathLst>
                <a:path w="3024981" h="3024981">
                  <a:moveTo>
                    <a:pt x="0" y="0"/>
                  </a:moveTo>
                  <a:lnTo>
                    <a:pt x="3024981" y="0"/>
                  </a:lnTo>
                  <a:lnTo>
                    <a:pt x="3024981" y="3024981"/>
                  </a:lnTo>
                  <a:lnTo>
                    <a:pt x="0" y="3024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1623" y="1001323"/>
              <a:ext cx="2366198" cy="1800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936"/>
                </a:lnSpc>
                <a:spcBef>
                  <a:spcPct val="0"/>
                </a:spcBef>
              </a:pPr>
              <a:r>
                <a:rPr lang="en-US" sz="8280">
                  <a:solidFill>
                    <a:srgbClr val="7ED957"/>
                  </a:solidFill>
                  <a:latin typeface="Codec Pro ExtraBold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209" y="678320"/>
              <a:ext cx="2802563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Montserrat Light Bold"/>
                </a:rPr>
                <a:t>RISK SCORE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280618" y="7241431"/>
            <a:ext cx="1934315" cy="3030978"/>
          </a:xfrm>
          <a:custGeom>
            <a:avLst/>
            <a:gdLst/>
            <a:ahLst/>
            <a:cxnLst/>
            <a:rect l="l" t="t" r="r" b="b"/>
            <a:pathLst>
              <a:path w="1934315" h="3030978">
                <a:moveTo>
                  <a:pt x="0" y="0"/>
                </a:moveTo>
                <a:lnTo>
                  <a:pt x="1934316" y="0"/>
                </a:lnTo>
                <a:lnTo>
                  <a:pt x="1934316" y="3030979"/>
                </a:lnTo>
                <a:lnTo>
                  <a:pt x="0" y="3030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7" name="Freeform 17"/>
          <p:cNvSpPr/>
          <p:nvPr/>
        </p:nvSpPr>
        <p:spPr>
          <a:xfrm>
            <a:off x="15657058" y="133042"/>
            <a:ext cx="2281208" cy="3301749"/>
          </a:xfrm>
          <a:custGeom>
            <a:avLst/>
            <a:gdLst/>
            <a:ahLst/>
            <a:cxnLst/>
            <a:rect l="l" t="t" r="r" b="b"/>
            <a:pathLst>
              <a:path w="2281208" h="3301749">
                <a:moveTo>
                  <a:pt x="0" y="0"/>
                </a:moveTo>
                <a:lnTo>
                  <a:pt x="2281208" y="0"/>
                </a:lnTo>
                <a:lnTo>
                  <a:pt x="2281208" y="3301749"/>
                </a:lnTo>
                <a:lnTo>
                  <a:pt x="0" y="3301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8" name="TextBox 18"/>
          <p:cNvSpPr txBox="1"/>
          <p:nvPr/>
        </p:nvSpPr>
        <p:spPr>
          <a:xfrm>
            <a:off x="827820" y="3633053"/>
            <a:ext cx="1774649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36"/>
              </a:lnSpc>
              <a:spcBef>
                <a:spcPct val="0"/>
              </a:spcBef>
            </a:pPr>
            <a:r>
              <a:rPr lang="en-US" sz="8280">
                <a:solidFill>
                  <a:srgbClr val="FF3131"/>
                </a:solidFill>
                <a:latin typeface="Codec Pro ExtraBold"/>
              </a:rPr>
              <a:t>20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2509" y="3414613"/>
            <a:ext cx="2101922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Montserrat Light Bold"/>
              </a:rPr>
              <a:t>RISK SCORE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89483" y="1096085"/>
            <a:ext cx="3873872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Montserrat Light Bold"/>
              </a:rPr>
              <a:t>ACTIONS TO TAKE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389483" y="1738289"/>
            <a:ext cx="4562964" cy="2451569"/>
            <a:chOff x="0" y="-19049"/>
            <a:chExt cx="6083952" cy="326875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19049"/>
              <a:ext cx="6083952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Montserrat Light Bold"/>
                </a:rPr>
                <a:t>Seek Internship </a:t>
              </a:r>
              <a:r>
                <a:rPr lang="en-US" sz="2199" smtClean="0">
                  <a:solidFill>
                    <a:srgbClr val="FFFFFF"/>
                  </a:solidFill>
                  <a:latin typeface="Montserrat Light Bold"/>
                </a:rPr>
                <a:t>Opportunities</a:t>
              </a:r>
              <a:endParaRPr lang="en-US" sz="2199">
                <a:solidFill>
                  <a:srgbClr val="FFFFFF"/>
                </a:solidFill>
                <a:latin typeface="Montserrat Light Bold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557775"/>
              <a:ext cx="5618927" cy="2691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200">
                  <a:solidFill>
                    <a:srgbClr val="FFFFFF"/>
                  </a:solidFill>
                  <a:latin typeface="Montserrat Light"/>
                </a:rPr>
                <a:t>Actively search for internships related to your field of study.</a:t>
              </a:r>
            </a:p>
            <a:p>
              <a:pPr algn="l">
                <a:lnSpc>
                  <a:spcPts val="3191"/>
                </a:lnSpc>
              </a:pPr>
              <a:r>
                <a:rPr lang="en-US" sz="2200">
                  <a:solidFill>
                    <a:srgbClr val="FFFFFF"/>
                  </a:solidFill>
                  <a:latin typeface="Montserrat Light"/>
                </a:rPr>
                <a:t>This provides hands-on experience and allows you to build relevant skills.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76680" y="211657"/>
            <a:ext cx="2676928" cy="157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2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Montserrat Light Bold"/>
              </a:rPr>
              <a:t>LACK OF WORK EXPERIENCE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0431" y="1895536"/>
            <a:ext cx="238942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 Light Bold"/>
              </a:rPr>
              <a:t>PROBABILITY: 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9102" y="2352101"/>
            <a:ext cx="2101922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 Light Bold"/>
              </a:rPr>
              <a:t>IMPACT: 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638" y="5902095"/>
            <a:ext cx="3381664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2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Montserrat Light Bold"/>
              </a:rPr>
              <a:t>TECHNIQUE: </a:t>
            </a:r>
            <a:r>
              <a:rPr lang="en-US" sz="3099">
                <a:solidFill>
                  <a:srgbClr val="FFFFFF"/>
                </a:solidFill>
                <a:latin typeface="Montserrat Light"/>
              </a:rPr>
              <a:t>Mitigating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466796" y="1738289"/>
            <a:ext cx="4562964" cy="2156124"/>
            <a:chOff x="0" y="-19049"/>
            <a:chExt cx="6083952" cy="2874833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19049"/>
              <a:ext cx="6083952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Montserrat Light Bold"/>
                </a:rPr>
                <a:t>Skills Development </a:t>
              </a:r>
              <a:r>
                <a:rPr lang="en-US" sz="2199" smtClean="0">
                  <a:solidFill>
                    <a:srgbClr val="FFFFFF"/>
                  </a:solidFill>
                  <a:latin typeface="Montserrat Light Bold"/>
                </a:rPr>
                <a:t>Courses</a:t>
              </a:r>
              <a:endParaRPr lang="en-US" sz="2199">
                <a:solidFill>
                  <a:srgbClr val="FFFFFF"/>
                </a:solidFill>
                <a:latin typeface="Montserrat Light Bold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11008"/>
              <a:ext cx="5618927" cy="214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200">
                  <a:solidFill>
                    <a:srgbClr val="FFFFFF"/>
                  </a:solidFill>
                  <a:latin typeface="Montserrat Light"/>
                </a:rPr>
                <a:t>Enroll in online or in-person courses that focus on practical skills demanded in the workplace.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261339" y="7529853"/>
            <a:ext cx="2676928" cy="2454135"/>
            <a:chOff x="0" y="0"/>
            <a:chExt cx="3569237" cy="3272179"/>
          </a:xfrm>
        </p:grpSpPr>
        <p:sp>
          <p:nvSpPr>
            <p:cNvPr id="32" name="TextBox 32"/>
            <p:cNvSpPr txBox="1"/>
            <p:nvPr/>
          </p:nvSpPr>
          <p:spPr>
            <a:xfrm>
              <a:off x="0" y="-28575"/>
              <a:ext cx="3569237" cy="2086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2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000000"/>
                  </a:solidFill>
                  <a:latin typeface="Montserrat Light Bold"/>
                </a:rPr>
                <a:t>GLOBAL RECESSION AND CRISES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1668" y="2216598"/>
              <a:ext cx="3185900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Montserrat Light Bold"/>
                </a:rPr>
                <a:t>PROBABILITY: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9896" y="2825351"/>
              <a:ext cx="2802563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Montserrat Light Bold"/>
                </a:rPr>
                <a:t>IMPACT: 5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291403" y="5577016"/>
            <a:ext cx="3873872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Montserrat Light Bold"/>
              </a:rPr>
              <a:t>ACTIONS TO TAKE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122004" y="6238512"/>
            <a:ext cx="4562964" cy="2821763"/>
            <a:chOff x="165340" y="395843"/>
            <a:chExt cx="6083952" cy="3762351"/>
          </a:xfrm>
        </p:grpSpPr>
        <p:sp>
          <p:nvSpPr>
            <p:cNvPr id="37" name="TextBox 37"/>
            <p:cNvSpPr txBox="1"/>
            <p:nvPr/>
          </p:nvSpPr>
          <p:spPr>
            <a:xfrm>
              <a:off x="165340" y="395843"/>
              <a:ext cx="6083952" cy="4648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 Light Bold"/>
                </a:rPr>
                <a:t>Stay </a:t>
              </a:r>
              <a:r>
                <a:rPr lang="en-US" sz="2199" smtClean="0">
                  <a:solidFill>
                    <a:srgbClr val="000000"/>
                  </a:solidFill>
                  <a:latin typeface="Montserrat Light Bold"/>
                </a:rPr>
                <a:t>Informed</a:t>
              </a:r>
              <a:endParaRPr lang="en-US" sz="2199">
                <a:solidFill>
                  <a:srgbClr val="000000"/>
                </a:solidFill>
                <a:latin typeface="Montserrat Light Bold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8349" y="875243"/>
              <a:ext cx="5870943" cy="32829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191"/>
                </a:lnSpc>
              </a:pPr>
              <a:r>
                <a:rPr lang="en-US" sz="2200" dirty="0">
                  <a:solidFill>
                    <a:srgbClr val="000000"/>
                  </a:solidFill>
                  <a:latin typeface="Montserrat Light"/>
                </a:rPr>
                <a:t>Regularly follow economic news and industry trends. This awareness can help you anticipate potential challenges and make informed career decisions.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563541" y="6226557"/>
            <a:ext cx="4562964" cy="3620533"/>
            <a:chOff x="-458950" y="381274"/>
            <a:chExt cx="6083952" cy="4827377"/>
          </a:xfrm>
        </p:grpSpPr>
        <p:sp>
          <p:nvSpPr>
            <p:cNvPr id="40" name="TextBox 40"/>
            <p:cNvSpPr txBox="1"/>
            <p:nvPr/>
          </p:nvSpPr>
          <p:spPr>
            <a:xfrm>
              <a:off x="-458950" y="381274"/>
              <a:ext cx="6083952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Montserrat Light Bold"/>
                </a:rPr>
                <a:t>Develop Transferable </a:t>
              </a:r>
              <a:r>
                <a:rPr lang="en-US" sz="2199" smtClean="0">
                  <a:solidFill>
                    <a:srgbClr val="000000"/>
                  </a:solidFill>
                  <a:latin typeface="Montserrat Light Bold"/>
                </a:rPr>
                <a:t>Skills</a:t>
              </a:r>
              <a:endParaRPr lang="en-US" sz="2199">
                <a:solidFill>
                  <a:srgbClr val="000000"/>
                </a:solidFill>
                <a:latin typeface="Montserrat Light Bold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" y="875242"/>
              <a:ext cx="5618927" cy="4333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91"/>
                </a:lnSpc>
              </a:pPr>
              <a:r>
                <a:rPr lang="en-US" sz="2200">
                  <a:solidFill>
                    <a:srgbClr val="000000"/>
                  </a:solidFill>
                  <a:latin typeface="Montserrat Light"/>
                </a:rPr>
                <a:t>Focus on developing skills that are valuable across different industries. Skills like communication, problem-solving, and adaptability are highly sought after and can help you navigate economic downturns.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4652664" y="3522239"/>
            <a:ext cx="3381664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2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Montserrat Light Bold"/>
              </a:rPr>
              <a:t>TECHNIQUE: </a:t>
            </a:r>
            <a:r>
              <a:rPr lang="en-US" sz="3099">
                <a:solidFill>
                  <a:srgbClr val="000000"/>
                </a:solidFill>
                <a:latin typeface="Montserrat Light"/>
              </a:rPr>
              <a:t>Accepting</a:t>
            </a:r>
          </a:p>
        </p:txBody>
      </p:sp>
    </p:spTree>
    <p:extLst>
      <p:ext uri="{BB962C8B-B14F-4D97-AF65-F5344CB8AC3E}">
        <p14:creationId xmlns:p14="http://schemas.microsoft.com/office/powerpoint/2010/main" val="302499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17" grpId="0" animBg="1"/>
      <p:bldP spid="18" grpId="0"/>
      <p:bldP spid="19" grpId="0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1361" y="1348438"/>
            <a:ext cx="16445279" cy="278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70"/>
              </a:lnSpc>
            </a:pPr>
            <a:r>
              <a:rPr lang="en-US" sz="16725" dirty="0">
                <a:solidFill>
                  <a:srgbClr val="56C1CA"/>
                </a:solidFill>
                <a:latin typeface="Codec Pro Extra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08274" y="3783053"/>
            <a:ext cx="14671452" cy="145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14"/>
              </a:lnSpc>
            </a:pPr>
            <a:r>
              <a:rPr lang="en-US" sz="8678">
                <a:solidFill>
                  <a:srgbClr val="56C1CA"/>
                </a:solidFill>
                <a:latin typeface="Codec Pro ExtraBold"/>
              </a:rPr>
              <a:t>FOR LISTENING!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08274" y="5785787"/>
            <a:ext cx="14671452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4"/>
              </a:lnSpc>
            </a:pPr>
            <a:r>
              <a:rPr lang="en-US" sz="5579" dirty="0">
                <a:solidFill>
                  <a:srgbClr val="56C1CA"/>
                </a:solidFill>
                <a:latin typeface="Montserrat Light"/>
              </a:rPr>
              <a:t>And never forget, </a:t>
            </a:r>
          </a:p>
          <a:p>
            <a:pPr algn="ctr">
              <a:lnSpc>
                <a:spcPts val="8134"/>
              </a:lnSpc>
            </a:pPr>
            <a:r>
              <a:rPr lang="en-US" sz="6779" dirty="0">
                <a:solidFill>
                  <a:srgbClr val="000000"/>
                </a:solidFill>
                <a:latin typeface="Montserrat Light Bold"/>
              </a:rPr>
              <a:t>RISK IS ALWAYS BETTER THAN REGRET.</a:t>
            </a:r>
          </a:p>
        </p:txBody>
      </p:sp>
      <p:sp>
        <p:nvSpPr>
          <p:cNvPr id="5" name="Freeform 5"/>
          <p:cNvSpPr/>
          <p:nvPr/>
        </p:nvSpPr>
        <p:spPr>
          <a:xfrm rot="10446475">
            <a:off x="-2759642" y="-5148565"/>
            <a:ext cx="9934884" cy="8800259"/>
          </a:xfrm>
          <a:custGeom>
            <a:avLst/>
            <a:gdLst/>
            <a:ahLst/>
            <a:cxnLst/>
            <a:rect l="l" t="t" r="r" b="b"/>
            <a:pathLst>
              <a:path w="9934884" h="8800259">
                <a:moveTo>
                  <a:pt x="0" y="0"/>
                </a:moveTo>
                <a:lnTo>
                  <a:pt x="9934884" y="0"/>
                </a:lnTo>
                <a:lnTo>
                  <a:pt x="9934884" y="8800259"/>
                </a:lnTo>
                <a:lnTo>
                  <a:pt x="0" y="880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 rot="10446475">
            <a:off x="13118761" y="6272474"/>
            <a:ext cx="9934884" cy="8800259"/>
          </a:xfrm>
          <a:custGeom>
            <a:avLst/>
            <a:gdLst/>
            <a:ahLst/>
            <a:cxnLst/>
            <a:rect l="l" t="t" r="r" b="b"/>
            <a:pathLst>
              <a:path w="9934884" h="8800259">
                <a:moveTo>
                  <a:pt x="0" y="0"/>
                </a:moveTo>
                <a:lnTo>
                  <a:pt x="9934884" y="0"/>
                </a:lnTo>
                <a:lnTo>
                  <a:pt x="9934884" y="8800259"/>
                </a:lnTo>
                <a:lnTo>
                  <a:pt x="0" y="880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696</Words>
  <Application>Microsoft Office PowerPoint</Application>
  <PresentationFormat>Özel</PresentationFormat>
  <Paragraphs>191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7" baseType="lpstr">
      <vt:lpstr>Calibri</vt:lpstr>
      <vt:lpstr>Codec Pro ExtraBold Bold</vt:lpstr>
      <vt:lpstr>Montserrat Light</vt:lpstr>
      <vt:lpstr>Arial</vt:lpstr>
      <vt:lpstr>Montserrat Light Bold</vt:lpstr>
      <vt:lpstr>Codec Pro ExtraBold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ISE456 INTRODUCTION TO RISK ANALYSIS MIDTERM PROJECT</dc:title>
  <dc:creator>Batuhan Ok</dc:creator>
  <cp:lastModifiedBy>Batuhan Ok</cp:lastModifiedBy>
  <cp:revision>12</cp:revision>
  <dcterms:created xsi:type="dcterms:W3CDTF">2006-08-16T00:00:00Z</dcterms:created>
  <dcterms:modified xsi:type="dcterms:W3CDTF">2024-05-05T16:51:42Z</dcterms:modified>
  <dc:identifier>DAGERDV2jOY</dc:identifier>
</cp:coreProperties>
</file>